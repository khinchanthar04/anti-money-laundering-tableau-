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1"/>
  </p:notesMasterIdLst>
  <p:sldIdLst>
    <p:sldId id="256" r:id="rId2"/>
    <p:sldId id="257" r:id="rId3"/>
    <p:sldId id="259" r:id="rId4"/>
    <p:sldId id="260" r:id="rId5"/>
    <p:sldId id="261" r:id="rId6"/>
    <p:sldId id="265"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1F75"/>
    <a:srgbClr val="84D2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p:scale>
          <a:sx n="66" d="100"/>
          <a:sy n="66" d="100"/>
        </p:scale>
        <p:origin x="66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D61A2-AADB-4AC5-8947-FC104A8F3BA7}" type="datetimeFigureOut">
              <a:rPr lang="en-SG" smtClean="0"/>
              <a:t>3/11/2025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54C67-C463-4F60-A61C-EDC61D49DB4B}" type="slidenum">
              <a:rPr lang="en-SG" smtClean="0"/>
              <a:t>‹#›</a:t>
            </a:fld>
            <a:endParaRPr lang="en-SG"/>
          </a:p>
        </p:txBody>
      </p:sp>
    </p:spTree>
    <p:extLst>
      <p:ext uri="{BB962C8B-B14F-4D97-AF65-F5344CB8AC3E}">
        <p14:creationId xmlns:p14="http://schemas.microsoft.com/office/powerpoint/2010/main" val="1055718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3B54C67-C463-4F60-A61C-EDC61D49DB4B}" type="slidenum">
              <a:rPr lang="en-SG" smtClean="0"/>
              <a:t>3</a:t>
            </a:fld>
            <a:endParaRPr lang="en-SG"/>
          </a:p>
        </p:txBody>
      </p:sp>
    </p:spTree>
    <p:extLst>
      <p:ext uri="{BB962C8B-B14F-4D97-AF65-F5344CB8AC3E}">
        <p14:creationId xmlns:p14="http://schemas.microsoft.com/office/powerpoint/2010/main" val="1356575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Anti-Money Laundering (AML) checks use </a:t>
            </a:r>
            <a:r>
              <a:rPr lang="en-US" sz="1200" b="1" i="0" kern="1200" dirty="0">
                <a:solidFill>
                  <a:schemeClr val="tx1"/>
                </a:solidFill>
                <a:effectLst/>
                <a:latin typeface="+mn-lt"/>
                <a:ea typeface="+mn-ea"/>
                <a:cs typeface="+mn-cs"/>
              </a:rPr>
              <a:t>averages (means or moving averages)</a:t>
            </a:r>
            <a:r>
              <a:rPr lang="en-US" sz="1200" b="0" i="0" kern="1200" dirty="0">
                <a:solidFill>
                  <a:schemeClr val="tx1"/>
                </a:solidFill>
                <a:effectLst/>
                <a:latin typeface="+mn-lt"/>
                <a:ea typeface="+mn-ea"/>
                <a:cs typeface="+mn-cs"/>
              </a:rPr>
              <a:t> to establish a stable and representative baseline of a customer's normal financial behavior, which then allows for the detection of deviations or anomalies. Using sums alone would be less effective for several reasons: </a:t>
            </a:r>
            <a:endParaRPr lang="en-SG" dirty="0"/>
          </a:p>
        </p:txBody>
      </p:sp>
      <p:sp>
        <p:nvSpPr>
          <p:cNvPr id="4" name="Slide Number Placeholder 3"/>
          <p:cNvSpPr>
            <a:spLocks noGrp="1"/>
          </p:cNvSpPr>
          <p:nvPr>
            <p:ph type="sldNum" sz="quarter" idx="5"/>
          </p:nvPr>
        </p:nvSpPr>
        <p:spPr/>
        <p:txBody>
          <a:bodyPr/>
          <a:lstStyle/>
          <a:p>
            <a:fld id="{93B54C67-C463-4F60-A61C-EDC61D49DB4B}" type="slidenum">
              <a:rPr lang="en-SG" smtClean="0"/>
              <a:t>5</a:t>
            </a:fld>
            <a:endParaRPr lang="en-SG"/>
          </a:p>
        </p:txBody>
      </p:sp>
    </p:spTree>
    <p:extLst>
      <p:ext uri="{BB962C8B-B14F-4D97-AF65-F5344CB8AC3E}">
        <p14:creationId xmlns:p14="http://schemas.microsoft.com/office/powerpoint/2010/main" val="461312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3B54C67-C463-4F60-A61C-EDC61D49DB4B}" type="slidenum">
              <a:rPr lang="en-SG" smtClean="0"/>
              <a:t>8</a:t>
            </a:fld>
            <a:endParaRPr lang="en-SG"/>
          </a:p>
        </p:txBody>
      </p:sp>
    </p:spTree>
    <p:extLst>
      <p:ext uri="{BB962C8B-B14F-4D97-AF65-F5344CB8AC3E}">
        <p14:creationId xmlns:p14="http://schemas.microsoft.com/office/powerpoint/2010/main" val="582639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11/3/2025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53794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11/3/2025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12723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11/3/2025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145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11/3/2025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22146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11/3/2025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687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11/3/2025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34150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11/3/2025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50944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11/3/2025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515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11/3/2025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30706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11/3/2025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26430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11/3/2025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760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11/3/2025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67344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image" Target="../media/image3.png"/><Relationship Id="rId7" Type="http://schemas.microsoft.com/office/2007/relationships/hdphoto" Target="../media/hdphoto1.wdp"/><Relationship Id="rId12"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4.jpeg"/><Relationship Id="rId9" Type="http://schemas.microsoft.com/office/2007/relationships/hdphoto" Target="../media/hdphoto2.wdp"/><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rtoon of a washing machine with money falling out of it&#10;&#10;AI-generated content may be incorrect.">
            <a:extLst>
              <a:ext uri="{FF2B5EF4-FFF2-40B4-BE49-F238E27FC236}">
                <a16:creationId xmlns:a16="http://schemas.microsoft.com/office/drawing/2014/main" id="{C099BEB2-AB2D-5C17-9CBC-E72804992833}"/>
              </a:ext>
            </a:extLst>
          </p:cNvPr>
          <p:cNvPicPr>
            <a:picLocks noChangeAspect="1"/>
          </p:cNvPicPr>
          <p:nvPr/>
        </p:nvPicPr>
        <p:blipFill>
          <a:blip r:embed="rId2">
            <a:extLst>
              <a:ext uri="{28A0092B-C50C-407E-A947-70E740481C1C}">
                <a14:useLocalDpi xmlns:a14="http://schemas.microsoft.com/office/drawing/2010/main" val="0"/>
              </a:ext>
            </a:extLst>
          </a:blip>
          <a:srcRect l="9091" t="9091"/>
          <a:stretch>
            <a:fillRect/>
          </a:stretch>
        </p:blipFill>
        <p:spPr>
          <a:xfrm flipH="1">
            <a:off x="20" y="10"/>
            <a:ext cx="12191979" cy="6857990"/>
          </a:xfrm>
          <a:prstGeom prst="rect">
            <a:avLst/>
          </a:prstGeom>
        </p:spPr>
      </p:pic>
      <p:sp>
        <p:nvSpPr>
          <p:cNvPr id="14" name="Rectangle 13">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209B63-911F-3FEF-1FB8-F7852E44FE99}"/>
              </a:ext>
            </a:extLst>
          </p:cNvPr>
          <p:cNvSpPr>
            <a:spLocks noGrp="1"/>
          </p:cNvSpPr>
          <p:nvPr>
            <p:ph type="ctrTitle"/>
          </p:nvPr>
        </p:nvSpPr>
        <p:spPr>
          <a:xfrm>
            <a:off x="6426200" y="914400"/>
            <a:ext cx="5104809" cy="3427867"/>
          </a:xfrm>
        </p:spPr>
        <p:txBody>
          <a:bodyPr anchor="t">
            <a:normAutofit/>
          </a:bodyPr>
          <a:lstStyle/>
          <a:p>
            <a:pPr algn="r">
              <a:lnSpc>
                <a:spcPct val="90000"/>
              </a:lnSpc>
            </a:pPr>
            <a:r>
              <a:rPr lang="en-US" sz="4000" dirty="0">
                <a:solidFill>
                  <a:srgbClr val="FFFFFF"/>
                </a:solidFill>
                <a:latin typeface="Amasis MT Pro Medium" panose="02040604050005020304" pitchFamily="18" charset="0"/>
              </a:rPr>
              <a:t>Anti–Money Laundering and Transaction Monitoring </a:t>
            </a:r>
          </a:p>
          <a:p>
            <a:pPr algn="r">
              <a:lnSpc>
                <a:spcPct val="90000"/>
              </a:lnSpc>
            </a:pPr>
            <a:r>
              <a:rPr lang="en-US" sz="2800" b="0" dirty="0">
                <a:solidFill>
                  <a:srgbClr val="84D2DE"/>
                </a:solidFill>
                <a:latin typeface="Amasis MT Pro Medium" panose="02040604050005020304" pitchFamily="18" charset="0"/>
              </a:rPr>
              <a:t>Case Study: Kim &amp; Lee</a:t>
            </a:r>
            <a:endParaRPr lang="en-SG" sz="2800" b="0" dirty="0">
              <a:solidFill>
                <a:srgbClr val="84D2DE"/>
              </a:solidFill>
              <a:latin typeface="Amasis MT Pro Medium" panose="02040604050005020304" pitchFamily="18" charset="0"/>
            </a:endParaRPr>
          </a:p>
        </p:txBody>
      </p:sp>
      <p:sp>
        <p:nvSpPr>
          <p:cNvPr id="3" name="Subtitle 2">
            <a:extLst>
              <a:ext uri="{FF2B5EF4-FFF2-40B4-BE49-F238E27FC236}">
                <a16:creationId xmlns:a16="http://schemas.microsoft.com/office/drawing/2014/main" id="{F296BAE0-93D5-A9C2-87D5-93D7A7BE4680}"/>
              </a:ext>
            </a:extLst>
          </p:cNvPr>
          <p:cNvSpPr>
            <a:spLocks noGrp="1"/>
          </p:cNvSpPr>
          <p:nvPr>
            <p:ph type="subTitle" idx="1"/>
          </p:nvPr>
        </p:nvSpPr>
        <p:spPr>
          <a:xfrm>
            <a:off x="6589835" y="5253051"/>
            <a:ext cx="4941173" cy="812923"/>
          </a:xfrm>
        </p:spPr>
        <p:txBody>
          <a:bodyPr anchor="t">
            <a:normAutofit/>
          </a:bodyPr>
          <a:lstStyle/>
          <a:p>
            <a:pPr algn="r"/>
            <a:r>
              <a:rPr lang="en-US" dirty="0">
                <a:solidFill>
                  <a:srgbClr val="FFFFFF"/>
                </a:solidFill>
              </a:rPr>
              <a:t>Khin Chan Thar</a:t>
            </a:r>
            <a:endParaRPr lang="en-SG" dirty="0">
              <a:solidFill>
                <a:srgbClr val="FFFFFF"/>
              </a:solidFill>
            </a:endParaRPr>
          </a:p>
        </p:txBody>
      </p:sp>
      <p:cxnSp>
        <p:nvCxnSpPr>
          <p:cNvPr id="16" name="Straight Connector 15">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2548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2629-0C6A-8FA9-4782-07259FAB8364}"/>
              </a:ext>
            </a:extLst>
          </p:cNvPr>
          <p:cNvSpPr>
            <a:spLocks noGrp="1"/>
          </p:cNvSpPr>
          <p:nvPr>
            <p:ph type="title"/>
          </p:nvPr>
        </p:nvSpPr>
        <p:spPr>
          <a:xfrm>
            <a:off x="226421" y="198120"/>
            <a:ext cx="10890929" cy="1097280"/>
          </a:xfrm>
        </p:spPr>
        <p:txBody>
          <a:bodyPr/>
          <a:lstStyle/>
          <a:p>
            <a:r>
              <a:rPr lang="en-US" dirty="0"/>
              <a:t>Understanding Anti-Money Laundering (AML)</a:t>
            </a:r>
            <a:endParaRPr lang="en-SG" dirty="0"/>
          </a:p>
        </p:txBody>
      </p:sp>
      <p:pic>
        <p:nvPicPr>
          <p:cNvPr id="1028" name="Picture 4" descr="Bank - Free buildings icons">
            <a:extLst>
              <a:ext uri="{FF2B5EF4-FFF2-40B4-BE49-F238E27FC236}">
                <a16:creationId xmlns:a16="http://schemas.microsoft.com/office/drawing/2014/main" id="{1121FCD5-1176-7828-3B8F-D7A24774B3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6206" y="1295400"/>
            <a:ext cx="1518424" cy="151842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oney - Free business and finance icons">
            <a:extLst>
              <a:ext uri="{FF2B5EF4-FFF2-40B4-BE49-F238E27FC236}">
                <a16:creationId xmlns:a16="http://schemas.microsoft.com/office/drawing/2014/main" id="{B557D6D0-C689-020F-6763-483AE97C4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421" y="1351060"/>
            <a:ext cx="1491342" cy="1491342"/>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B3DE4090-4EB8-5D45-8E76-9DA126C046BF}"/>
              </a:ext>
            </a:extLst>
          </p:cNvPr>
          <p:cNvGrpSpPr/>
          <p:nvPr/>
        </p:nvGrpSpPr>
        <p:grpSpPr>
          <a:xfrm>
            <a:off x="9455264" y="839201"/>
            <a:ext cx="2256225" cy="2430822"/>
            <a:chOff x="6969799" y="1375231"/>
            <a:chExt cx="2256225" cy="2430822"/>
          </a:xfrm>
        </p:grpSpPr>
        <p:pic>
          <p:nvPicPr>
            <p:cNvPr id="1054" name="Picture 30" descr="vector illustration eps ...">
              <a:extLst>
                <a:ext uri="{FF2B5EF4-FFF2-40B4-BE49-F238E27FC236}">
                  <a16:creationId xmlns:a16="http://schemas.microsoft.com/office/drawing/2014/main" id="{FFF7A812-DBFB-2B1D-A1E5-08D86863A7AB}"/>
                </a:ext>
              </a:extLst>
            </p:cNvPr>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997872" y="1375231"/>
              <a:ext cx="2143125" cy="214312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6CD9BB8C-B20E-9BEE-8B45-A969010AF319}"/>
                </a:ext>
              </a:extLst>
            </p:cNvPr>
            <p:cNvGrpSpPr/>
            <p:nvPr/>
          </p:nvGrpSpPr>
          <p:grpSpPr>
            <a:xfrm>
              <a:off x="7043191" y="1662928"/>
              <a:ext cx="2143125" cy="2143125"/>
              <a:chOff x="6737111" y="131595"/>
              <a:chExt cx="2143125" cy="2143125"/>
            </a:xfrm>
          </p:grpSpPr>
          <p:sp>
            <p:nvSpPr>
              <p:cNvPr id="19" name="Rectangle: Rounded Corners 18">
                <a:extLst>
                  <a:ext uri="{FF2B5EF4-FFF2-40B4-BE49-F238E27FC236}">
                    <a16:creationId xmlns:a16="http://schemas.microsoft.com/office/drawing/2014/main" id="{290D8745-D3A6-1ECA-38E7-176458C8F801}"/>
                  </a:ext>
                </a:extLst>
              </p:cNvPr>
              <p:cNvSpPr/>
              <p:nvPr/>
            </p:nvSpPr>
            <p:spPr>
              <a:xfrm>
                <a:off x="6912845" y="1056640"/>
                <a:ext cx="1733315" cy="29206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56" name="Picture 32" descr="Button Clipart, Sticker Clipart, Buy ...">
                <a:extLst>
                  <a:ext uri="{FF2B5EF4-FFF2-40B4-BE49-F238E27FC236}">
                    <a16:creationId xmlns:a16="http://schemas.microsoft.com/office/drawing/2014/main" id="{75C77FAB-9AB6-B97A-A69A-7279B34233A5}"/>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37111" y="131595"/>
                <a:ext cx="2143125" cy="2143125"/>
              </a:xfrm>
              <a:prstGeom prst="rect">
                <a:avLst/>
              </a:prstGeom>
              <a:noFill/>
              <a:extLst>
                <a:ext uri="{909E8E84-426E-40DD-AFC4-6F175D3DCCD1}">
                  <a14:hiddenFill xmlns:a14="http://schemas.microsoft.com/office/drawing/2010/main">
                    <a:solidFill>
                      <a:srgbClr val="FFFFFF"/>
                    </a:solidFill>
                  </a14:hiddenFill>
                </a:ext>
              </a:extLst>
            </p:spPr>
          </p:pic>
        </p:grpSp>
        <p:pic>
          <p:nvPicPr>
            <p:cNvPr id="1044" name="Picture 20" descr="Sleek white private jet illustration ...">
              <a:extLst>
                <a:ext uri="{FF2B5EF4-FFF2-40B4-BE49-F238E27FC236}">
                  <a16:creationId xmlns:a16="http://schemas.microsoft.com/office/drawing/2014/main" id="{9994D3D3-359E-EB31-43C3-209E1AA2BED2}"/>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778" b="89778" l="889" r="93778">
                          <a14:foregroundMark x1="89333" y1="55111" x2="87111" y2="62222"/>
                          <a14:foregroundMark x1="93778" y1="59556" x2="94222" y2="57778"/>
                          <a14:foregroundMark x1="19556" y1="62667" x2="889" y2="61333"/>
                          <a14:foregroundMark x1="19556" y1="35556" x2="22667" y2="34667"/>
                          <a14:foregroundMark x1="21333" y1="34667" x2="21778" y2="32000"/>
                          <a14:foregroundMark x1="47111" y1="43111" x2="48889" y2="42222"/>
                          <a14:foregroundMark x1="48444" y1="43111" x2="48889" y2="44000"/>
                          <a14:foregroundMark x1="48889" y1="42667" x2="32000" y2="45778"/>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8282505" y="2534623"/>
              <a:ext cx="943519" cy="943519"/>
            </a:xfrm>
            <a:prstGeom prst="rect">
              <a:avLst/>
            </a:prstGeom>
            <a:extLst>
              <a:ext uri="{909E8E84-426E-40DD-AFC4-6F175D3DCCD1}">
                <a14:hiddenFill xmlns:a14="http://schemas.microsoft.com/office/drawing/2010/main">
                  <a:solidFill>
                    <a:srgbClr val="FFFFFF"/>
                  </a:solidFill>
                </a14:hiddenFill>
              </a:ext>
            </a:extLst>
          </p:spPr>
        </p:pic>
        <p:pic>
          <p:nvPicPr>
            <p:cNvPr id="1046" name="Picture 22" descr="Yacht Clipart in Minimalist Art Style ...">
              <a:extLst>
                <a:ext uri="{FF2B5EF4-FFF2-40B4-BE49-F238E27FC236}">
                  <a16:creationId xmlns:a16="http://schemas.microsoft.com/office/drawing/2014/main" id="{6C413003-7D7E-2432-C5DE-E6E841100FCB}"/>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969799" y="2349499"/>
              <a:ext cx="1312705" cy="131270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a:extLst>
              <a:ext uri="{FF2B5EF4-FFF2-40B4-BE49-F238E27FC236}">
                <a16:creationId xmlns:a16="http://schemas.microsoft.com/office/drawing/2014/main" id="{D138EF32-56A9-EF2A-2789-77E099849011}"/>
              </a:ext>
            </a:extLst>
          </p:cNvPr>
          <p:cNvGrpSpPr/>
          <p:nvPr/>
        </p:nvGrpSpPr>
        <p:grpSpPr>
          <a:xfrm>
            <a:off x="6399018" y="1304142"/>
            <a:ext cx="1633690" cy="1585178"/>
            <a:chOff x="6024833" y="1540035"/>
            <a:chExt cx="2509567" cy="2435046"/>
          </a:xfrm>
        </p:grpSpPr>
        <p:pic>
          <p:nvPicPr>
            <p:cNvPr id="1038" name="Picture 14" descr="Handshake - Free business and finance icons">
              <a:extLst>
                <a:ext uri="{FF2B5EF4-FFF2-40B4-BE49-F238E27FC236}">
                  <a16:creationId xmlns:a16="http://schemas.microsoft.com/office/drawing/2014/main" id="{75A82732-2B94-33EB-98BE-8785661A39A8}"/>
                </a:ext>
              </a:extLst>
            </p:cNvPr>
            <p:cNvPicPr>
              <a:picLocks noChangeAspect="1" noChangeArrowheads="1"/>
            </p:cNvPicPr>
            <p:nvPr/>
          </p:nvPicPr>
          <p:blipFill>
            <a:blip r:embed="rId10">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76981" y="1540035"/>
              <a:ext cx="646591" cy="60855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6" descr="Three Thin Arrows Circle PNG &amp; SVG Design For T-Shirts">
              <a:extLst>
                <a:ext uri="{FF2B5EF4-FFF2-40B4-BE49-F238E27FC236}">
                  <a16:creationId xmlns:a16="http://schemas.microsoft.com/office/drawing/2014/main" id="{9F20A0BF-42A1-805A-558B-8C08474BF47A}"/>
                </a:ext>
              </a:extLst>
            </p:cNvPr>
            <p:cNvPicPr>
              <a:picLocks noChangeAspect="1" noChangeArrowheads="1"/>
            </p:cNvPicPr>
            <p:nvPr/>
          </p:nvPicPr>
          <p:blipFill rotWithShape="1">
            <a:blip r:embed="rId11">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r="37559" b="47112"/>
            <a:stretch>
              <a:fillRect/>
            </a:stretch>
          </p:blipFill>
          <p:spPr bwMode="auto">
            <a:xfrm rot="18722999" flipV="1">
              <a:off x="6920072" y="3161417"/>
              <a:ext cx="881063" cy="746266"/>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79502DAD-6C36-AF27-316C-58658C691350}"/>
                </a:ext>
              </a:extLst>
            </p:cNvPr>
            <p:cNvGrpSpPr/>
            <p:nvPr/>
          </p:nvGrpSpPr>
          <p:grpSpPr>
            <a:xfrm>
              <a:off x="6024833" y="1957857"/>
              <a:ext cx="2509567" cy="1693620"/>
              <a:chOff x="6024833" y="1957857"/>
              <a:chExt cx="2509567" cy="1693620"/>
            </a:xfrm>
          </p:grpSpPr>
          <p:pic>
            <p:nvPicPr>
              <p:cNvPr id="1036" name="Picture 12" descr="Coin - Free business icons">
                <a:extLst>
                  <a:ext uri="{FF2B5EF4-FFF2-40B4-BE49-F238E27FC236}">
                    <a16:creationId xmlns:a16="http://schemas.microsoft.com/office/drawing/2014/main" id="{E5930BC7-CD79-64C5-7079-97480600496E}"/>
                  </a:ext>
                </a:extLst>
              </p:cNvPr>
              <p:cNvPicPr>
                <a:picLocks noChangeAspect="1" noChangeArrowheads="1"/>
              </p:cNvPicPr>
              <p:nvPr/>
            </p:nvPicPr>
            <p:blipFill>
              <a:blip r:embed="rId1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88137" y="2184400"/>
                <a:ext cx="1244600" cy="12446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greement Document Contract Finance Paper Done Complete Svg Png Icon Free  Download (#552432) - OnlineWebFonts.COM">
                <a:extLst>
                  <a:ext uri="{FF2B5EF4-FFF2-40B4-BE49-F238E27FC236}">
                    <a16:creationId xmlns:a16="http://schemas.microsoft.com/office/drawing/2014/main" id="{1D2D1E3D-1E09-ED75-F29C-CEFAD3E83E98}"/>
                  </a:ext>
                </a:extLst>
              </p:cNvPr>
              <p:cNvPicPr>
                <a:picLocks noChangeAspect="1" noChangeArrowheads="1"/>
              </p:cNvPicPr>
              <p:nvPr/>
            </p:nvPicPr>
            <p:blipFill>
              <a:blip r:embed="rId1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34250" y="3039394"/>
                <a:ext cx="600150" cy="60015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ransfer - Free networking icons">
                <a:extLst>
                  <a:ext uri="{FF2B5EF4-FFF2-40B4-BE49-F238E27FC236}">
                    <a16:creationId xmlns:a16="http://schemas.microsoft.com/office/drawing/2014/main" id="{3F98E8F8-2C2D-E836-B7A7-935F804BFF7C}"/>
                  </a:ext>
                </a:extLst>
              </p:cNvPr>
              <p:cNvPicPr>
                <a:picLocks noChangeAspect="1" noChangeArrowheads="1"/>
              </p:cNvPicPr>
              <p:nvPr/>
            </p:nvPicPr>
            <p:blipFill>
              <a:blip r:embed="rId14">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24833" y="2991830"/>
                <a:ext cx="659647" cy="659647"/>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Three Thin Arrows Circle PNG &amp; SVG Design For T-Shirts">
                <a:extLst>
                  <a:ext uri="{FF2B5EF4-FFF2-40B4-BE49-F238E27FC236}">
                    <a16:creationId xmlns:a16="http://schemas.microsoft.com/office/drawing/2014/main" id="{F2B9B7FB-F62C-2978-7E95-622982EB7473}"/>
                  </a:ext>
                </a:extLst>
              </p:cNvPr>
              <p:cNvPicPr>
                <a:picLocks noChangeAspect="1" noChangeArrowheads="1"/>
              </p:cNvPicPr>
              <p:nvPr/>
            </p:nvPicPr>
            <p:blipFill rotWithShape="1">
              <a:blip r:embed="rId11">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r="37559" b="47112"/>
              <a:stretch>
                <a:fillRect/>
              </a:stretch>
            </p:blipFill>
            <p:spPr bwMode="auto">
              <a:xfrm rot="768954" flipH="1">
                <a:off x="7492206" y="2061635"/>
                <a:ext cx="881063" cy="74626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6" descr="Three Thin Arrows Circle PNG &amp; SVG Design For T-Shirts">
                <a:extLst>
                  <a:ext uri="{FF2B5EF4-FFF2-40B4-BE49-F238E27FC236}">
                    <a16:creationId xmlns:a16="http://schemas.microsoft.com/office/drawing/2014/main" id="{19BE5D16-3391-ED13-9119-002AF8131AEF}"/>
                  </a:ext>
                </a:extLst>
              </p:cNvPr>
              <p:cNvPicPr>
                <a:picLocks noChangeAspect="1" noChangeArrowheads="1"/>
              </p:cNvPicPr>
              <p:nvPr/>
            </p:nvPicPr>
            <p:blipFill rotWithShape="1">
              <a:blip r:embed="rId11">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r="37559" b="47112"/>
              <a:stretch>
                <a:fillRect/>
              </a:stretch>
            </p:blipFill>
            <p:spPr bwMode="auto">
              <a:xfrm rot="5112205" flipV="1">
                <a:off x="6281653" y="2025256"/>
                <a:ext cx="881063" cy="746266"/>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1064" name="Picture 40" descr="Black Arrow Png Symbol 27008274 Vector ...">
            <a:extLst>
              <a:ext uri="{FF2B5EF4-FFF2-40B4-BE49-F238E27FC236}">
                <a16:creationId xmlns:a16="http://schemas.microsoft.com/office/drawing/2014/main" id="{B7C4F7A7-938F-D1B1-D438-6335D67BA9AF}"/>
              </a:ext>
            </a:extLst>
          </p:cNvPr>
          <p:cNvPicPr>
            <a:picLocks noChangeAspect="1" noChangeArrowheads="1"/>
          </p:cNvPicPr>
          <p:nvPr/>
        </p:nvPicPr>
        <p:blipFill>
          <a:blip r:embed="rId15">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775592" y="2026005"/>
            <a:ext cx="1268909" cy="44646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0" descr="Black Arrow Png Symbol 27008274 Vector ...">
            <a:extLst>
              <a:ext uri="{FF2B5EF4-FFF2-40B4-BE49-F238E27FC236}">
                <a16:creationId xmlns:a16="http://schemas.microsoft.com/office/drawing/2014/main" id="{AFE1C6B0-81E9-F085-9921-4CD2F5B96E36}"/>
              </a:ext>
            </a:extLst>
          </p:cNvPr>
          <p:cNvPicPr>
            <a:picLocks noChangeAspect="1" noChangeArrowheads="1"/>
          </p:cNvPicPr>
          <p:nvPr/>
        </p:nvPicPr>
        <p:blipFill>
          <a:blip r:embed="rId15">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44251" y="2026005"/>
            <a:ext cx="1268909" cy="44646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0" descr="Black Arrow Png Symbol 27008274 Vector ...">
            <a:extLst>
              <a:ext uri="{FF2B5EF4-FFF2-40B4-BE49-F238E27FC236}">
                <a16:creationId xmlns:a16="http://schemas.microsoft.com/office/drawing/2014/main" id="{85CC75E8-5070-AB8B-6DFA-30BF41E2C896}"/>
              </a:ext>
            </a:extLst>
          </p:cNvPr>
          <p:cNvPicPr>
            <a:picLocks noChangeAspect="1" noChangeArrowheads="1"/>
          </p:cNvPicPr>
          <p:nvPr/>
        </p:nvPicPr>
        <p:blipFill>
          <a:blip r:embed="rId15">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7003" y="1905581"/>
            <a:ext cx="1268909" cy="446468"/>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A0FEAA95-4761-3A54-DEBA-9FDE901BFFBF}"/>
              </a:ext>
            </a:extLst>
          </p:cNvPr>
          <p:cNvSpPr txBox="1"/>
          <p:nvPr/>
        </p:nvSpPr>
        <p:spPr>
          <a:xfrm>
            <a:off x="226421" y="2978185"/>
            <a:ext cx="1491342" cy="646331"/>
          </a:xfrm>
          <a:prstGeom prst="rect">
            <a:avLst/>
          </a:prstGeom>
          <a:noFill/>
        </p:spPr>
        <p:txBody>
          <a:bodyPr wrap="square" rtlCol="0">
            <a:spAutoFit/>
          </a:bodyPr>
          <a:lstStyle/>
          <a:p>
            <a:r>
              <a:rPr lang="en-US" dirty="0"/>
              <a:t>Collection of Dirty Money </a:t>
            </a:r>
            <a:endParaRPr lang="en-SG" dirty="0"/>
          </a:p>
        </p:txBody>
      </p:sp>
      <p:sp>
        <p:nvSpPr>
          <p:cNvPr id="29" name="TextBox 28">
            <a:extLst>
              <a:ext uri="{FF2B5EF4-FFF2-40B4-BE49-F238E27FC236}">
                <a16:creationId xmlns:a16="http://schemas.microsoft.com/office/drawing/2014/main" id="{88849F34-B06E-4764-D5E9-C636ABADE864}"/>
              </a:ext>
            </a:extLst>
          </p:cNvPr>
          <p:cNvSpPr txBox="1"/>
          <p:nvPr/>
        </p:nvSpPr>
        <p:spPr>
          <a:xfrm>
            <a:off x="2717109" y="3354261"/>
            <a:ext cx="2920204" cy="1754326"/>
          </a:xfrm>
          <a:prstGeom prst="rect">
            <a:avLst/>
          </a:prstGeom>
          <a:noFill/>
        </p:spPr>
        <p:txBody>
          <a:bodyPr wrap="square">
            <a:spAutoFit/>
          </a:bodyPr>
          <a:lstStyle/>
          <a:p>
            <a:r>
              <a:rPr lang="en-SG" dirty="0"/>
              <a:t>Dirty Money is introduced into the economy via bank deposits. Smaller deposits below the threshold levels are made to subvert reporting.</a:t>
            </a:r>
          </a:p>
        </p:txBody>
      </p:sp>
      <p:sp>
        <p:nvSpPr>
          <p:cNvPr id="31" name="TextBox 30">
            <a:extLst>
              <a:ext uri="{FF2B5EF4-FFF2-40B4-BE49-F238E27FC236}">
                <a16:creationId xmlns:a16="http://schemas.microsoft.com/office/drawing/2014/main" id="{D471DED9-C024-C266-C0A1-821D0C3ADAA3}"/>
              </a:ext>
            </a:extLst>
          </p:cNvPr>
          <p:cNvSpPr txBox="1"/>
          <p:nvPr/>
        </p:nvSpPr>
        <p:spPr>
          <a:xfrm>
            <a:off x="2839264" y="2526613"/>
            <a:ext cx="2747249" cy="830997"/>
          </a:xfrm>
          <a:prstGeom prst="rect">
            <a:avLst/>
          </a:prstGeom>
          <a:noFill/>
        </p:spPr>
        <p:txBody>
          <a:bodyPr wrap="square">
            <a:spAutoFit/>
          </a:bodyPr>
          <a:lstStyle/>
          <a:p>
            <a:br>
              <a:rPr lang="en-US" sz="2400" b="1" dirty="0"/>
            </a:br>
            <a:r>
              <a:rPr lang="en-US" sz="2400" b="1" dirty="0"/>
              <a:t>Step 1. Placement </a:t>
            </a:r>
          </a:p>
        </p:txBody>
      </p:sp>
      <p:sp>
        <p:nvSpPr>
          <p:cNvPr id="32" name="TextBox 31">
            <a:extLst>
              <a:ext uri="{FF2B5EF4-FFF2-40B4-BE49-F238E27FC236}">
                <a16:creationId xmlns:a16="http://schemas.microsoft.com/office/drawing/2014/main" id="{3CDD6E32-F5A7-E78A-BE61-3FC26BCB5070}"/>
              </a:ext>
            </a:extLst>
          </p:cNvPr>
          <p:cNvSpPr txBox="1"/>
          <p:nvPr/>
        </p:nvSpPr>
        <p:spPr>
          <a:xfrm>
            <a:off x="5977858" y="2526612"/>
            <a:ext cx="2747249" cy="830997"/>
          </a:xfrm>
          <a:prstGeom prst="rect">
            <a:avLst/>
          </a:prstGeom>
          <a:noFill/>
        </p:spPr>
        <p:txBody>
          <a:bodyPr wrap="square">
            <a:spAutoFit/>
          </a:bodyPr>
          <a:lstStyle/>
          <a:p>
            <a:br>
              <a:rPr lang="en-US" sz="2400" b="1" dirty="0"/>
            </a:br>
            <a:r>
              <a:rPr lang="en-US" sz="2400" b="1" dirty="0"/>
              <a:t>Step 2. Layering</a:t>
            </a:r>
          </a:p>
        </p:txBody>
      </p:sp>
      <p:sp>
        <p:nvSpPr>
          <p:cNvPr id="33" name="TextBox 32">
            <a:extLst>
              <a:ext uri="{FF2B5EF4-FFF2-40B4-BE49-F238E27FC236}">
                <a16:creationId xmlns:a16="http://schemas.microsoft.com/office/drawing/2014/main" id="{013FACC6-833A-AF1C-B30B-66C175CA0BF9}"/>
              </a:ext>
            </a:extLst>
          </p:cNvPr>
          <p:cNvSpPr txBox="1"/>
          <p:nvPr/>
        </p:nvSpPr>
        <p:spPr>
          <a:xfrm>
            <a:off x="5891380" y="3331975"/>
            <a:ext cx="2920204" cy="1754326"/>
          </a:xfrm>
          <a:prstGeom prst="rect">
            <a:avLst/>
          </a:prstGeom>
          <a:noFill/>
        </p:spPr>
        <p:txBody>
          <a:bodyPr wrap="square">
            <a:spAutoFit/>
          </a:bodyPr>
          <a:lstStyle/>
          <a:p>
            <a:r>
              <a:rPr lang="en-SG" dirty="0"/>
              <a:t>Bank deposits pass through multiple domestic and off-shore transactions, making it cumbersome for the authorities to follow the audit trail. </a:t>
            </a:r>
          </a:p>
        </p:txBody>
      </p:sp>
      <p:sp>
        <p:nvSpPr>
          <p:cNvPr id="41" name="Rectangle 40">
            <a:extLst>
              <a:ext uri="{FF2B5EF4-FFF2-40B4-BE49-F238E27FC236}">
                <a16:creationId xmlns:a16="http://schemas.microsoft.com/office/drawing/2014/main" id="{0E1BB612-659E-5851-BFD5-607CDDE31320}"/>
              </a:ext>
            </a:extLst>
          </p:cNvPr>
          <p:cNvSpPr/>
          <p:nvPr/>
        </p:nvSpPr>
        <p:spPr>
          <a:xfrm>
            <a:off x="0" y="5314167"/>
            <a:ext cx="12192000" cy="1543833"/>
          </a:xfrm>
          <a:prstGeom prst="rect">
            <a:avLst/>
          </a:prstGeom>
          <a:solidFill>
            <a:srgbClr val="271F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TextBox 37">
            <a:extLst>
              <a:ext uri="{FF2B5EF4-FFF2-40B4-BE49-F238E27FC236}">
                <a16:creationId xmlns:a16="http://schemas.microsoft.com/office/drawing/2014/main" id="{FA8EEF18-8E35-3730-DAC5-14F0DF4C63A6}"/>
              </a:ext>
            </a:extLst>
          </p:cNvPr>
          <p:cNvSpPr txBox="1"/>
          <p:nvPr/>
        </p:nvSpPr>
        <p:spPr>
          <a:xfrm>
            <a:off x="9055453" y="3354040"/>
            <a:ext cx="2920204" cy="1754326"/>
          </a:xfrm>
          <a:prstGeom prst="rect">
            <a:avLst/>
          </a:prstGeom>
          <a:noFill/>
        </p:spPr>
        <p:txBody>
          <a:bodyPr wrap="square">
            <a:spAutoFit/>
          </a:bodyPr>
          <a:lstStyle/>
          <a:p>
            <a:r>
              <a:rPr lang="en-US" dirty="0"/>
              <a:t>The laundered criminal proceeds get legitimate originals and are integrated into banks and financial institutions as clean money ready for use. </a:t>
            </a:r>
            <a:endParaRPr lang="en-SG" dirty="0"/>
          </a:p>
        </p:txBody>
      </p:sp>
      <p:sp>
        <p:nvSpPr>
          <p:cNvPr id="39" name="TextBox 38">
            <a:extLst>
              <a:ext uri="{FF2B5EF4-FFF2-40B4-BE49-F238E27FC236}">
                <a16:creationId xmlns:a16="http://schemas.microsoft.com/office/drawing/2014/main" id="{98A8FF37-D116-AA54-09AC-08E464DB21DA}"/>
              </a:ext>
            </a:extLst>
          </p:cNvPr>
          <p:cNvSpPr txBox="1"/>
          <p:nvPr/>
        </p:nvSpPr>
        <p:spPr>
          <a:xfrm>
            <a:off x="9177608" y="2526392"/>
            <a:ext cx="2747249" cy="830997"/>
          </a:xfrm>
          <a:prstGeom prst="rect">
            <a:avLst/>
          </a:prstGeom>
          <a:noFill/>
        </p:spPr>
        <p:txBody>
          <a:bodyPr wrap="square">
            <a:spAutoFit/>
          </a:bodyPr>
          <a:lstStyle/>
          <a:p>
            <a:br>
              <a:rPr lang="en-US" sz="2400" b="1" dirty="0"/>
            </a:br>
            <a:r>
              <a:rPr lang="en-US" sz="2400" b="1" dirty="0"/>
              <a:t>Step 3. Integration</a:t>
            </a:r>
          </a:p>
        </p:txBody>
      </p:sp>
      <p:sp>
        <p:nvSpPr>
          <p:cNvPr id="40" name="TextBox 39">
            <a:extLst>
              <a:ext uri="{FF2B5EF4-FFF2-40B4-BE49-F238E27FC236}">
                <a16:creationId xmlns:a16="http://schemas.microsoft.com/office/drawing/2014/main" id="{B99A3468-B889-97C4-5983-F8EBE15AD74A}"/>
              </a:ext>
            </a:extLst>
          </p:cNvPr>
          <p:cNvSpPr txBox="1"/>
          <p:nvPr/>
        </p:nvSpPr>
        <p:spPr>
          <a:xfrm>
            <a:off x="284250" y="5458814"/>
            <a:ext cx="11342212" cy="1200329"/>
          </a:xfrm>
          <a:prstGeom prst="rect">
            <a:avLst/>
          </a:prstGeom>
          <a:noFill/>
        </p:spPr>
        <p:txBody>
          <a:bodyPr wrap="square" rtlCol="0">
            <a:spAutoFit/>
          </a:bodyPr>
          <a:lstStyle/>
          <a:p>
            <a:r>
              <a:rPr lang="en-US" dirty="0">
                <a:solidFill>
                  <a:schemeClr val="bg1"/>
                </a:solidFill>
              </a:rPr>
              <a:t>AML refers to set of laws, regulations, and procedures designed to prevent criminals from disguising illegally obtained funds as legitimate income. </a:t>
            </a:r>
          </a:p>
          <a:p>
            <a:r>
              <a:rPr lang="en-US" dirty="0">
                <a:solidFill>
                  <a:schemeClr val="bg1"/>
                </a:solidFill>
              </a:rPr>
              <a:t>Financial institutes use Know Your Customer (KYC) and Customer Due Diligence (CDD) to verify identities and monitor activity, reporting potential suspicious transactions to authorities. </a:t>
            </a:r>
            <a:endParaRPr lang="en-SG" dirty="0">
              <a:solidFill>
                <a:schemeClr val="bg1"/>
              </a:solidFill>
            </a:endParaRPr>
          </a:p>
        </p:txBody>
      </p:sp>
    </p:spTree>
    <p:extLst>
      <p:ext uri="{BB962C8B-B14F-4D97-AF65-F5344CB8AC3E}">
        <p14:creationId xmlns:p14="http://schemas.microsoft.com/office/powerpoint/2010/main" val="2945023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EC269-E95A-F5EC-D9B5-CA78AE530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6CC02-8F7E-60F5-939D-A5354730342B}"/>
              </a:ext>
            </a:extLst>
          </p:cNvPr>
          <p:cNvSpPr>
            <a:spLocks noGrp="1"/>
          </p:cNvSpPr>
          <p:nvPr>
            <p:ph type="title"/>
          </p:nvPr>
        </p:nvSpPr>
        <p:spPr>
          <a:xfrm>
            <a:off x="226421" y="198120"/>
            <a:ext cx="10890929" cy="1097280"/>
          </a:xfrm>
        </p:spPr>
        <p:txBody>
          <a:bodyPr/>
          <a:lstStyle/>
          <a:p>
            <a:r>
              <a:rPr lang="en-US" dirty="0"/>
              <a:t>How Transaction Monitoring Works</a:t>
            </a:r>
            <a:endParaRPr lang="en-SG" dirty="0"/>
          </a:p>
        </p:txBody>
      </p:sp>
      <p:sp>
        <p:nvSpPr>
          <p:cNvPr id="27" name="TextBox 26">
            <a:extLst>
              <a:ext uri="{FF2B5EF4-FFF2-40B4-BE49-F238E27FC236}">
                <a16:creationId xmlns:a16="http://schemas.microsoft.com/office/drawing/2014/main" id="{95CBBDDC-EC06-B78E-DF0E-33BA8F55689E}"/>
              </a:ext>
            </a:extLst>
          </p:cNvPr>
          <p:cNvSpPr txBox="1"/>
          <p:nvPr/>
        </p:nvSpPr>
        <p:spPr>
          <a:xfrm>
            <a:off x="328978" y="1177814"/>
            <a:ext cx="11149659" cy="646331"/>
          </a:xfrm>
          <a:prstGeom prst="rect">
            <a:avLst/>
          </a:prstGeom>
          <a:noFill/>
        </p:spPr>
        <p:txBody>
          <a:bodyPr wrap="square" rtlCol="0">
            <a:spAutoFit/>
          </a:bodyPr>
          <a:lstStyle/>
          <a:p>
            <a:r>
              <a:rPr lang="en-US" dirty="0"/>
              <a:t>Transaction monitoring is based on a risk-based approach which uses a series of interconnected methods to detect suspicions financial activity and ensure compliance. </a:t>
            </a:r>
            <a:endParaRPr lang="en-SG" dirty="0"/>
          </a:p>
        </p:txBody>
      </p:sp>
      <p:sp>
        <p:nvSpPr>
          <p:cNvPr id="31" name="TextBox 30">
            <a:extLst>
              <a:ext uri="{FF2B5EF4-FFF2-40B4-BE49-F238E27FC236}">
                <a16:creationId xmlns:a16="http://schemas.microsoft.com/office/drawing/2014/main" id="{84A8D912-E05A-4D4A-6C5F-C32604DB6849}"/>
              </a:ext>
            </a:extLst>
          </p:cNvPr>
          <p:cNvSpPr txBox="1"/>
          <p:nvPr/>
        </p:nvSpPr>
        <p:spPr>
          <a:xfrm>
            <a:off x="328978" y="1793534"/>
            <a:ext cx="2747249" cy="461665"/>
          </a:xfrm>
          <a:prstGeom prst="rect">
            <a:avLst/>
          </a:prstGeom>
          <a:noFill/>
        </p:spPr>
        <p:txBody>
          <a:bodyPr wrap="square">
            <a:spAutoFit/>
          </a:bodyPr>
          <a:lstStyle/>
          <a:p>
            <a:r>
              <a:rPr lang="en-US" sz="2400" b="1" dirty="0">
                <a:latin typeface="MS UI Gothic" panose="020B0600070205080204" pitchFamily="34" charset="-128"/>
                <a:ea typeface="MS UI Gothic" panose="020B0600070205080204" pitchFamily="34" charset="-128"/>
              </a:rPr>
              <a:t>Core functions: </a:t>
            </a:r>
          </a:p>
        </p:txBody>
      </p:sp>
      <p:sp>
        <p:nvSpPr>
          <p:cNvPr id="6" name="TextBox 5">
            <a:extLst>
              <a:ext uri="{FF2B5EF4-FFF2-40B4-BE49-F238E27FC236}">
                <a16:creationId xmlns:a16="http://schemas.microsoft.com/office/drawing/2014/main" id="{160AC0E3-72DB-1D32-B6C9-D3D8E5FE0649}"/>
              </a:ext>
            </a:extLst>
          </p:cNvPr>
          <p:cNvSpPr txBox="1"/>
          <p:nvPr/>
        </p:nvSpPr>
        <p:spPr>
          <a:xfrm>
            <a:off x="328978" y="2236247"/>
            <a:ext cx="3286264"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1. Data Collection and Integration</a:t>
            </a:r>
          </a:p>
        </p:txBody>
      </p:sp>
      <p:sp>
        <p:nvSpPr>
          <p:cNvPr id="10" name="TextBox 9">
            <a:extLst>
              <a:ext uri="{FF2B5EF4-FFF2-40B4-BE49-F238E27FC236}">
                <a16:creationId xmlns:a16="http://schemas.microsoft.com/office/drawing/2014/main" id="{61AB14CE-F070-D4CF-806C-32F582A2D232}"/>
              </a:ext>
            </a:extLst>
          </p:cNvPr>
          <p:cNvSpPr txBox="1"/>
          <p:nvPr/>
        </p:nvSpPr>
        <p:spPr>
          <a:xfrm>
            <a:off x="460821" y="2561622"/>
            <a:ext cx="3267196" cy="954107"/>
          </a:xfrm>
          <a:prstGeom prst="rect">
            <a:avLst/>
          </a:prstGeom>
          <a:noFill/>
        </p:spPr>
        <p:txBody>
          <a:bodyPr wrap="square">
            <a:spAutoFit/>
          </a:bodyPr>
          <a:lstStyle/>
          <a:p>
            <a:r>
              <a:rPr lang="en-US" sz="1400" dirty="0"/>
              <a:t>Gather transaction data that contains key transactions from banking systems, payment processors and outside service providers. </a:t>
            </a:r>
          </a:p>
        </p:txBody>
      </p:sp>
      <p:grpSp>
        <p:nvGrpSpPr>
          <p:cNvPr id="37" name="Group 36">
            <a:extLst>
              <a:ext uri="{FF2B5EF4-FFF2-40B4-BE49-F238E27FC236}">
                <a16:creationId xmlns:a16="http://schemas.microsoft.com/office/drawing/2014/main" id="{329F38E8-60AD-249A-9E44-6CC1FD30846F}"/>
              </a:ext>
            </a:extLst>
          </p:cNvPr>
          <p:cNvGrpSpPr/>
          <p:nvPr/>
        </p:nvGrpSpPr>
        <p:grpSpPr>
          <a:xfrm>
            <a:off x="324720" y="3527464"/>
            <a:ext cx="3403297" cy="1019834"/>
            <a:chOff x="324720" y="3431212"/>
            <a:chExt cx="3403297" cy="1019834"/>
          </a:xfrm>
        </p:grpSpPr>
        <p:sp>
          <p:nvSpPr>
            <p:cNvPr id="13" name="TextBox 12">
              <a:extLst>
                <a:ext uri="{FF2B5EF4-FFF2-40B4-BE49-F238E27FC236}">
                  <a16:creationId xmlns:a16="http://schemas.microsoft.com/office/drawing/2014/main" id="{70ED2AEC-B429-3808-CE17-794A60354FFD}"/>
                </a:ext>
              </a:extLst>
            </p:cNvPr>
            <p:cNvSpPr txBox="1"/>
            <p:nvPr/>
          </p:nvSpPr>
          <p:spPr>
            <a:xfrm>
              <a:off x="460821" y="3712382"/>
              <a:ext cx="3267196" cy="738664"/>
            </a:xfrm>
            <a:prstGeom prst="rect">
              <a:avLst/>
            </a:prstGeom>
            <a:noFill/>
          </p:spPr>
          <p:txBody>
            <a:bodyPr wrap="square">
              <a:spAutoFit/>
            </a:bodyPr>
            <a:lstStyle/>
            <a:p>
              <a:r>
                <a:rPr lang="en-US" sz="1400" dirty="0"/>
                <a:t>Each transaction is screened against predefined rules, risk criteria and external watchlists.</a:t>
              </a:r>
            </a:p>
          </p:txBody>
        </p:sp>
        <p:sp>
          <p:nvSpPr>
            <p:cNvPr id="14" name="TextBox 13">
              <a:extLst>
                <a:ext uri="{FF2B5EF4-FFF2-40B4-BE49-F238E27FC236}">
                  <a16:creationId xmlns:a16="http://schemas.microsoft.com/office/drawing/2014/main" id="{B340541D-6050-750D-A1E0-E55F00445869}"/>
                </a:ext>
              </a:extLst>
            </p:cNvPr>
            <p:cNvSpPr txBox="1"/>
            <p:nvPr/>
          </p:nvSpPr>
          <p:spPr>
            <a:xfrm>
              <a:off x="324720" y="3431212"/>
              <a:ext cx="3286264"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2. Transaction screening</a:t>
              </a:r>
            </a:p>
          </p:txBody>
        </p:sp>
      </p:grpSp>
      <p:grpSp>
        <p:nvGrpSpPr>
          <p:cNvPr id="23" name="Group 22">
            <a:extLst>
              <a:ext uri="{FF2B5EF4-FFF2-40B4-BE49-F238E27FC236}">
                <a16:creationId xmlns:a16="http://schemas.microsoft.com/office/drawing/2014/main" id="{EB9D70A4-C06A-4CEC-9802-C35A7F9553BF}"/>
              </a:ext>
            </a:extLst>
          </p:cNvPr>
          <p:cNvGrpSpPr/>
          <p:nvPr/>
        </p:nvGrpSpPr>
        <p:grpSpPr>
          <a:xfrm>
            <a:off x="3989883" y="2210847"/>
            <a:ext cx="3403297" cy="1479528"/>
            <a:chOff x="324720" y="4381765"/>
            <a:chExt cx="3403297" cy="1479528"/>
          </a:xfrm>
        </p:grpSpPr>
        <p:sp>
          <p:nvSpPr>
            <p:cNvPr id="12" name="TextBox 11">
              <a:extLst>
                <a:ext uri="{FF2B5EF4-FFF2-40B4-BE49-F238E27FC236}">
                  <a16:creationId xmlns:a16="http://schemas.microsoft.com/office/drawing/2014/main" id="{52553E74-4D74-A024-8576-22F1BCEEFA35}"/>
                </a:ext>
              </a:extLst>
            </p:cNvPr>
            <p:cNvSpPr txBox="1"/>
            <p:nvPr/>
          </p:nvSpPr>
          <p:spPr>
            <a:xfrm>
              <a:off x="324720" y="4381765"/>
              <a:ext cx="3286264"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4. Pattern detection and analysis</a:t>
              </a:r>
            </a:p>
          </p:txBody>
        </p:sp>
        <p:sp>
          <p:nvSpPr>
            <p:cNvPr id="22" name="TextBox 21">
              <a:extLst>
                <a:ext uri="{FF2B5EF4-FFF2-40B4-BE49-F238E27FC236}">
                  <a16:creationId xmlns:a16="http://schemas.microsoft.com/office/drawing/2014/main" id="{0D749CB1-D9B6-2806-90BC-04525BDD1014}"/>
                </a:ext>
              </a:extLst>
            </p:cNvPr>
            <p:cNvSpPr txBox="1"/>
            <p:nvPr/>
          </p:nvSpPr>
          <p:spPr>
            <a:xfrm>
              <a:off x="460821" y="4691742"/>
              <a:ext cx="3267196" cy="1169551"/>
            </a:xfrm>
            <a:prstGeom prst="rect">
              <a:avLst/>
            </a:prstGeom>
            <a:noFill/>
          </p:spPr>
          <p:txBody>
            <a:bodyPr wrap="square">
              <a:spAutoFit/>
            </a:bodyPr>
            <a:lstStyle/>
            <a:p>
              <a:r>
                <a:rPr lang="en-US" sz="1400" dirty="0"/>
                <a:t>The system is used to identify odd or abnormal behavior like high activity or sizable client withdraws that deviate from the customer’s typical transaction patterns or behavior. </a:t>
              </a:r>
              <a:endParaRPr lang="en-SG" sz="1400" dirty="0"/>
            </a:p>
          </p:txBody>
        </p:sp>
      </p:grpSp>
      <p:grpSp>
        <p:nvGrpSpPr>
          <p:cNvPr id="24" name="Group 23">
            <a:extLst>
              <a:ext uri="{FF2B5EF4-FFF2-40B4-BE49-F238E27FC236}">
                <a16:creationId xmlns:a16="http://schemas.microsoft.com/office/drawing/2014/main" id="{D172CAAA-D75A-4F87-D757-2A0308A732C9}"/>
              </a:ext>
            </a:extLst>
          </p:cNvPr>
          <p:cNvGrpSpPr/>
          <p:nvPr/>
        </p:nvGrpSpPr>
        <p:grpSpPr>
          <a:xfrm>
            <a:off x="324720" y="4566813"/>
            <a:ext cx="3555697" cy="1909851"/>
            <a:chOff x="172320" y="4382329"/>
            <a:chExt cx="3555697" cy="1909851"/>
          </a:xfrm>
        </p:grpSpPr>
        <p:sp>
          <p:nvSpPr>
            <p:cNvPr id="28" name="TextBox 27">
              <a:extLst>
                <a:ext uri="{FF2B5EF4-FFF2-40B4-BE49-F238E27FC236}">
                  <a16:creationId xmlns:a16="http://schemas.microsoft.com/office/drawing/2014/main" id="{E8D0AABD-C4F7-B810-188A-8DFEEEE2B4AD}"/>
                </a:ext>
              </a:extLst>
            </p:cNvPr>
            <p:cNvSpPr txBox="1"/>
            <p:nvPr/>
          </p:nvSpPr>
          <p:spPr>
            <a:xfrm>
              <a:off x="172320" y="4382329"/>
              <a:ext cx="3286264"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3. Risk-based scoring</a:t>
              </a:r>
            </a:p>
          </p:txBody>
        </p:sp>
        <p:sp>
          <p:nvSpPr>
            <p:cNvPr id="30" name="TextBox 29">
              <a:extLst>
                <a:ext uri="{FF2B5EF4-FFF2-40B4-BE49-F238E27FC236}">
                  <a16:creationId xmlns:a16="http://schemas.microsoft.com/office/drawing/2014/main" id="{010A6DDA-A6B0-5D9A-5D0F-330AB82EFA4C}"/>
                </a:ext>
              </a:extLst>
            </p:cNvPr>
            <p:cNvSpPr txBox="1"/>
            <p:nvPr/>
          </p:nvSpPr>
          <p:spPr>
            <a:xfrm>
              <a:off x="460821" y="4691742"/>
              <a:ext cx="3267196" cy="1600438"/>
            </a:xfrm>
            <a:prstGeom prst="rect">
              <a:avLst/>
            </a:prstGeom>
            <a:noFill/>
          </p:spPr>
          <p:txBody>
            <a:bodyPr wrap="square">
              <a:spAutoFit/>
            </a:bodyPr>
            <a:lstStyle/>
            <a:p>
              <a:r>
                <a:rPr lang="en-US" sz="1400" dirty="0"/>
                <a:t>Each transaction is assigned a risk score based on the factors like customer risk profiles and transaction history. This prioritizes transactions that need a closer investigation which ensures that high-risk transactions are flagged for review. </a:t>
              </a:r>
              <a:endParaRPr lang="en-SG" sz="1400" dirty="0"/>
            </a:p>
          </p:txBody>
        </p:sp>
      </p:grpSp>
      <p:grpSp>
        <p:nvGrpSpPr>
          <p:cNvPr id="34" name="Group 33">
            <a:extLst>
              <a:ext uri="{FF2B5EF4-FFF2-40B4-BE49-F238E27FC236}">
                <a16:creationId xmlns:a16="http://schemas.microsoft.com/office/drawing/2014/main" id="{3C0E5E03-2299-FC12-6621-9C39A7264740}"/>
              </a:ext>
            </a:extLst>
          </p:cNvPr>
          <p:cNvGrpSpPr/>
          <p:nvPr/>
        </p:nvGrpSpPr>
        <p:grpSpPr>
          <a:xfrm>
            <a:off x="3989883" y="3615764"/>
            <a:ext cx="3403297" cy="1694972"/>
            <a:chOff x="324720" y="4381765"/>
            <a:chExt cx="3403297" cy="1694972"/>
          </a:xfrm>
        </p:grpSpPr>
        <p:sp>
          <p:nvSpPr>
            <p:cNvPr id="35" name="TextBox 34">
              <a:extLst>
                <a:ext uri="{FF2B5EF4-FFF2-40B4-BE49-F238E27FC236}">
                  <a16:creationId xmlns:a16="http://schemas.microsoft.com/office/drawing/2014/main" id="{B8BFF66D-6587-B18D-DCD0-93A6958F024E}"/>
                </a:ext>
              </a:extLst>
            </p:cNvPr>
            <p:cNvSpPr txBox="1"/>
            <p:nvPr/>
          </p:nvSpPr>
          <p:spPr>
            <a:xfrm>
              <a:off x="324720" y="4381765"/>
              <a:ext cx="3286264"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5. Alert generation</a:t>
              </a:r>
            </a:p>
          </p:txBody>
        </p:sp>
        <p:sp>
          <p:nvSpPr>
            <p:cNvPr id="36" name="TextBox 35">
              <a:extLst>
                <a:ext uri="{FF2B5EF4-FFF2-40B4-BE49-F238E27FC236}">
                  <a16:creationId xmlns:a16="http://schemas.microsoft.com/office/drawing/2014/main" id="{B5F2D052-241B-E903-6856-E5E3384EED7E}"/>
                </a:ext>
              </a:extLst>
            </p:cNvPr>
            <p:cNvSpPr txBox="1"/>
            <p:nvPr/>
          </p:nvSpPr>
          <p:spPr>
            <a:xfrm>
              <a:off x="460821" y="4691742"/>
              <a:ext cx="3267196" cy="1384995"/>
            </a:xfrm>
            <a:prstGeom prst="rect">
              <a:avLst/>
            </a:prstGeom>
            <a:noFill/>
          </p:spPr>
          <p:txBody>
            <a:bodyPr wrap="square">
              <a:spAutoFit/>
            </a:bodyPr>
            <a:lstStyle/>
            <a:p>
              <a:r>
                <a:rPr lang="en-US" sz="1400" dirty="0"/>
                <a:t>The system generates an alert and sends to investigators for further investigation when a transaction is flagged as suspicious which is either due to anomalies or specific transaction monitoring rules. </a:t>
              </a:r>
              <a:endParaRPr lang="en-SG" sz="1400" dirty="0"/>
            </a:p>
          </p:txBody>
        </p:sp>
      </p:grpSp>
      <p:grpSp>
        <p:nvGrpSpPr>
          <p:cNvPr id="43" name="Group 42">
            <a:extLst>
              <a:ext uri="{FF2B5EF4-FFF2-40B4-BE49-F238E27FC236}">
                <a16:creationId xmlns:a16="http://schemas.microsoft.com/office/drawing/2014/main" id="{C7BC5AC9-4C09-92AB-124C-6E3734B0218F}"/>
              </a:ext>
            </a:extLst>
          </p:cNvPr>
          <p:cNvGrpSpPr/>
          <p:nvPr/>
        </p:nvGrpSpPr>
        <p:grpSpPr>
          <a:xfrm>
            <a:off x="3965690" y="5234536"/>
            <a:ext cx="3692409" cy="1264084"/>
            <a:chOff x="324719" y="4381765"/>
            <a:chExt cx="3692409" cy="1264084"/>
          </a:xfrm>
        </p:grpSpPr>
        <p:sp>
          <p:nvSpPr>
            <p:cNvPr id="44" name="TextBox 43">
              <a:extLst>
                <a:ext uri="{FF2B5EF4-FFF2-40B4-BE49-F238E27FC236}">
                  <a16:creationId xmlns:a16="http://schemas.microsoft.com/office/drawing/2014/main" id="{FDBACB80-8932-4BCA-4424-BA99E243604D}"/>
                </a:ext>
              </a:extLst>
            </p:cNvPr>
            <p:cNvSpPr txBox="1"/>
            <p:nvPr/>
          </p:nvSpPr>
          <p:spPr>
            <a:xfrm>
              <a:off x="324719" y="4381765"/>
              <a:ext cx="3692409"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6. Investigation and Case Management</a:t>
              </a:r>
            </a:p>
          </p:txBody>
        </p:sp>
        <p:sp>
          <p:nvSpPr>
            <p:cNvPr id="45" name="TextBox 44">
              <a:extLst>
                <a:ext uri="{FF2B5EF4-FFF2-40B4-BE49-F238E27FC236}">
                  <a16:creationId xmlns:a16="http://schemas.microsoft.com/office/drawing/2014/main" id="{0C861DE7-7B4A-54EC-54FA-B6F243F68CF3}"/>
                </a:ext>
              </a:extLst>
            </p:cNvPr>
            <p:cNvSpPr txBox="1"/>
            <p:nvPr/>
          </p:nvSpPr>
          <p:spPr>
            <a:xfrm>
              <a:off x="460821" y="4691742"/>
              <a:ext cx="3267196" cy="954107"/>
            </a:xfrm>
            <a:prstGeom prst="rect">
              <a:avLst/>
            </a:prstGeom>
            <a:noFill/>
          </p:spPr>
          <p:txBody>
            <a:bodyPr wrap="square">
              <a:spAutoFit/>
            </a:bodyPr>
            <a:lstStyle/>
            <a:p>
              <a:r>
                <a:rPr lang="en-US" sz="1400" dirty="0"/>
                <a:t>The investigative team reviews the alerted transaction by gathering more information like account history and parties involved.</a:t>
              </a:r>
              <a:endParaRPr lang="en-SG" sz="1400" dirty="0"/>
            </a:p>
          </p:txBody>
        </p:sp>
      </p:grpSp>
      <p:grpSp>
        <p:nvGrpSpPr>
          <p:cNvPr id="46" name="Group 45">
            <a:extLst>
              <a:ext uri="{FF2B5EF4-FFF2-40B4-BE49-F238E27FC236}">
                <a16:creationId xmlns:a16="http://schemas.microsoft.com/office/drawing/2014/main" id="{91D42D63-04BC-5CD5-172A-F1E71AB10300}"/>
              </a:ext>
            </a:extLst>
          </p:cNvPr>
          <p:cNvGrpSpPr/>
          <p:nvPr/>
        </p:nvGrpSpPr>
        <p:grpSpPr>
          <a:xfrm>
            <a:off x="7886370" y="3193914"/>
            <a:ext cx="3692409" cy="1694972"/>
            <a:chOff x="324719" y="4381765"/>
            <a:chExt cx="3692409" cy="1694972"/>
          </a:xfrm>
        </p:grpSpPr>
        <p:sp>
          <p:nvSpPr>
            <p:cNvPr id="47" name="TextBox 46">
              <a:extLst>
                <a:ext uri="{FF2B5EF4-FFF2-40B4-BE49-F238E27FC236}">
                  <a16:creationId xmlns:a16="http://schemas.microsoft.com/office/drawing/2014/main" id="{3B52241C-5DDD-2D50-015B-F9A61C2A5F5B}"/>
                </a:ext>
              </a:extLst>
            </p:cNvPr>
            <p:cNvSpPr txBox="1"/>
            <p:nvPr/>
          </p:nvSpPr>
          <p:spPr>
            <a:xfrm>
              <a:off x="324719" y="4381765"/>
              <a:ext cx="3692409"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7. Suspicious activity Reporting</a:t>
              </a:r>
            </a:p>
          </p:txBody>
        </p:sp>
        <p:sp>
          <p:nvSpPr>
            <p:cNvPr id="48" name="TextBox 47">
              <a:extLst>
                <a:ext uri="{FF2B5EF4-FFF2-40B4-BE49-F238E27FC236}">
                  <a16:creationId xmlns:a16="http://schemas.microsoft.com/office/drawing/2014/main" id="{B150472E-7135-98FE-A811-FB9E4EE84400}"/>
                </a:ext>
              </a:extLst>
            </p:cNvPr>
            <p:cNvSpPr txBox="1"/>
            <p:nvPr/>
          </p:nvSpPr>
          <p:spPr>
            <a:xfrm>
              <a:off x="460821" y="4691742"/>
              <a:ext cx="3267196" cy="1384995"/>
            </a:xfrm>
            <a:prstGeom prst="rect">
              <a:avLst/>
            </a:prstGeom>
            <a:noFill/>
          </p:spPr>
          <p:txBody>
            <a:bodyPr wrap="square">
              <a:spAutoFit/>
            </a:bodyPr>
            <a:lstStyle/>
            <a:p>
              <a:r>
                <a:rPr lang="en-US" sz="1400" dirty="0"/>
                <a:t>The appropriate regulatory bodies get a Suspicious Activity Report or Suspicious Transaction Report if a transaction is verified to be suspicious. This report contains comprehensive details based on the investigation. </a:t>
              </a:r>
              <a:endParaRPr lang="en-SG" sz="1400" dirty="0"/>
            </a:p>
          </p:txBody>
        </p:sp>
      </p:grpSp>
      <p:grpSp>
        <p:nvGrpSpPr>
          <p:cNvPr id="49" name="Group 48">
            <a:extLst>
              <a:ext uri="{FF2B5EF4-FFF2-40B4-BE49-F238E27FC236}">
                <a16:creationId xmlns:a16="http://schemas.microsoft.com/office/drawing/2014/main" id="{A536ABD1-F922-CC49-A0A1-F9A3A24CBA3B}"/>
              </a:ext>
            </a:extLst>
          </p:cNvPr>
          <p:cNvGrpSpPr/>
          <p:nvPr/>
        </p:nvGrpSpPr>
        <p:grpSpPr>
          <a:xfrm>
            <a:off x="7773098" y="4854111"/>
            <a:ext cx="4123156" cy="1694972"/>
            <a:chOff x="324719" y="4381765"/>
            <a:chExt cx="4123156" cy="1694972"/>
          </a:xfrm>
        </p:grpSpPr>
        <p:sp>
          <p:nvSpPr>
            <p:cNvPr id="50" name="TextBox 49">
              <a:extLst>
                <a:ext uri="{FF2B5EF4-FFF2-40B4-BE49-F238E27FC236}">
                  <a16:creationId xmlns:a16="http://schemas.microsoft.com/office/drawing/2014/main" id="{03A6EEE4-1F9B-9C46-CCCC-5D7369414061}"/>
                </a:ext>
              </a:extLst>
            </p:cNvPr>
            <p:cNvSpPr txBox="1"/>
            <p:nvPr/>
          </p:nvSpPr>
          <p:spPr>
            <a:xfrm>
              <a:off x="324719" y="4381765"/>
              <a:ext cx="4123156" cy="338554"/>
            </a:xfrm>
            <a:prstGeom prst="rect">
              <a:avLst/>
            </a:prstGeom>
            <a:noFill/>
          </p:spPr>
          <p:txBody>
            <a:bodyPr wrap="square">
              <a:spAutoFit/>
            </a:bodyPr>
            <a:lstStyle/>
            <a:p>
              <a:r>
                <a:rPr lang="en-US" sz="1600" b="1" dirty="0">
                  <a:latin typeface="MS UI Gothic" panose="020B0600070205080204" pitchFamily="34" charset="-128"/>
                  <a:ea typeface="MS UI Gothic" panose="020B0600070205080204" pitchFamily="34" charset="-128"/>
                </a:rPr>
                <a:t>8. Continuous monitoring and improvement</a:t>
              </a:r>
            </a:p>
          </p:txBody>
        </p:sp>
        <p:sp>
          <p:nvSpPr>
            <p:cNvPr id="51" name="TextBox 50">
              <a:extLst>
                <a:ext uri="{FF2B5EF4-FFF2-40B4-BE49-F238E27FC236}">
                  <a16:creationId xmlns:a16="http://schemas.microsoft.com/office/drawing/2014/main" id="{A0BA5C19-37AE-8A8A-367E-30EC2733C91E}"/>
                </a:ext>
              </a:extLst>
            </p:cNvPr>
            <p:cNvSpPr txBox="1"/>
            <p:nvPr/>
          </p:nvSpPr>
          <p:spPr>
            <a:xfrm>
              <a:off x="460821" y="4691742"/>
              <a:ext cx="3267196" cy="1384995"/>
            </a:xfrm>
            <a:prstGeom prst="rect">
              <a:avLst/>
            </a:prstGeom>
            <a:noFill/>
          </p:spPr>
          <p:txBody>
            <a:bodyPr wrap="square">
              <a:spAutoFit/>
            </a:bodyPr>
            <a:lstStyle/>
            <a:p>
              <a:r>
                <a:rPr lang="en-US" sz="1400" dirty="0"/>
                <a:t>Feedback loops and continuous monitoring make sure that the system adjusts to new threats. Conduct periodic audits of procedures and systems to refine detection and to ensure to meet regulatory standards .</a:t>
              </a:r>
              <a:endParaRPr lang="en-SG" sz="1400" dirty="0"/>
            </a:p>
          </p:txBody>
        </p:sp>
      </p:grpSp>
      <p:pic>
        <p:nvPicPr>
          <p:cNvPr id="2052" name="Picture 4" descr="Why you need an automated AML transaction monitoring solution - ComplyRadar">
            <a:extLst>
              <a:ext uri="{FF2B5EF4-FFF2-40B4-BE49-F238E27FC236}">
                <a16:creationId xmlns:a16="http://schemas.microsoft.com/office/drawing/2014/main" id="{B3C43A40-C878-F5F5-161A-586F8351F8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561"/>
          <a:stretch>
            <a:fillRect/>
          </a:stretch>
        </p:blipFill>
        <p:spPr bwMode="auto">
          <a:xfrm>
            <a:off x="7980612" y="1574424"/>
            <a:ext cx="2917513" cy="1711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551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0EE56-2FD8-6227-C885-AA93A98C3F29}"/>
              </a:ext>
            </a:extLst>
          </p:cNvPr>
          <p:cNvSpPr>
            <a:spLocks noGrp="1"/>
          </p:cNvSpPr>
          <p:nvPr>
            <p:ph type="title"/>
          </p:nvPr>
        </p:nvSpPr>
        <p:spPr>
          <a:xfrm>
            <a:off x="640079" y="328864"/>
            <a:ext cx="10890929" cy="1097280"/>
          </a:xfrm>
        </p:spPr>
        <p:txBody>
          <a:bodyPr/>
          <a:lstStyle/>
          <a:p>
            <a:r>
              <a:rPr lang="en-US" dirty="0"/>
              <a:t>Investigating Kim &amp; Lee’s Transaction Network</a:t>
            </a:r>
            <a:endParaRPr lang="en-SG" dirty="0"/>
          </a:p>
        </p:txBody>
      </p:sp>
      <p:pic>
        <p:nvPicPr>
          <p:cNvPr id="5" name="Picture 4">
            <a:extLst>
              <a:ext uri="{FF2B5EF4-FFF2-40B4-BE49-F238E27FC236}">
                <a16:creationId xmlns:a16="http://schemas.microsoft.com/office/drawing/2014/main" id="{88270D00-5960-D274-33F3-0BF68C19C415}"/>
              </a:ext>
            </a:extLst>
          </p:cNvPr>
          <p:cNvPicPr>
            <a:picLocks noChangeAspect="1"/>
          </p:cNvPicPr>
          <p:nvPr/>
        </p:nvPicPr>
        <p:blipFill>
          <a:blip r:embed="rId2"/>
          <a:stretch>
            <a:fillRect/>
          </a:stretch>
        </p:blipFill>
        <p:spPr>
          <a:xfrm>
            <a:off x="4013200" y="1440294"/>
            <a:ext cx="5448299" cy="5270395"/>
          </a:xfrm>
          <a:prstGeom prst="rect">
            <a:avLst/>
          </a:prstGeom>
        </p:spPr>
      </p:pic>
      <p:pic>
        <p:nvPicPr>
          <p:cNvPr id="7" name="Picture 6">
            <a:extLst>
              <a:ext uri="{FF2B5EF4-FFF2-40B4-BE49-F238E27FC236}">
                <a16:creationId xmlns:a16="http://schemas.microsoft.com/office/drawing/2014/main" id="{C36B7C41-4CE9-249A-223E-38064E58CB6F}"/>
              </a:ext>
            </a:extLst>
          </p:cNvPr>
          <p:cNvPicPr>
            <a:picLocks noChangeAspect="1"/>
          </p:cNvPicPr>
          <p:nvPr/>
        </p:nvPicPr>
        <p:blipFill>
          <a:blip r:embed="rId3"/>
          <a:stretch>
            <a:fillRect/>
          </a:stretch>
        </p:blipFill>
        <p:spPr>
          <a:xfrm>
            <a:off x="857942" y="1467995"/>
            <a:ext cx="11099725" cy="5166495"/>
          </a:xfrm>
          <a:prstGeom prst="rect">
            <a:avLst/>
          </a:prstGeom>
        </p:spPr>
      </p:pic>
      <p:sp>
        <p:nvSpPr>
          <p:cNvPr id="8" name="TextBox 7">
            <a:extLst>
              <a:ext uri="{FF2B5EF4-FFF2-40B4-BE49-F238E27FC236}">
                <a16:creationId xmlns:a16="http://schemas.microsoft.com/office/drawing/2014/main" id="{757A8B0A-640E-C865-328E-FCC6F4A6B32D}"/>
              </a:ext>
            </a:extLst>
          </p:cNvPr>
          <p:cNvSpPr txBox="1"/>
          <p:nvPr/>
        </p:nvSpPr>
        <p:spPr>
          <a:xfrm>
            <a:off x="3756025" y="3940175"/>
            <a:ext cx="304800" cy="172306"/>
          </a:xfrm>
          <a:prstGeom prst="rect">
            <a:avLst/>
          </a:prstGeom>
          <a:solidFill>
            <a:schemeClr val="bg1"/>
          </a:solidFill>
        </p:spPr>
        <p:txBody>
          <a:bodyPr wrap="square" rtlCol="0">
            <a:spAutoFit/>
          </a:bodyPr>
          <a:lstStyle/>
          <a:p>
            <a:endParaRPr lang="en-SG" sz="1200" dirty="0"/>
          </a:p>
        </p:txBody>
      </p:sp>
      <p:sp>
        <p:nvSpPr>
          <p:cNvPr id="6" name="TextBox 5">
            <a:extLst>
              <a:ext uri="{FF2B5EF4-FFF2-40B4-BE49-F238E27FC236}">
                <a16:creationId xmlns:a16="http://schemas.microsoft.com/office/drawing/2014/main" id="{18D25606-6D4E-1A7F-C66A-E5F4A8850F45}"/>
              </a:ext>
            </a:extLst>
          </p:cNvPr>
          <p:cNvSpPr txBox="1"/>
          <p:nvPr/>
        </p:nvSpPr>
        <p:spPr>
          <a:xfrm>
            <a:off x="3725186" y="3873096"/>
            <a:ext cx="445956" cy="261610"/>
          </a:xfrm>
          <a:prstGeom prst="rect">
            <a:avLst/>
          </a:prstGeom>
          <a:noFill/>
        </p:spPr>
        <p:txBody>
          <a:bodyPr wrap="square" rtlCol="0">
            <a:spAutoFit/>
          </a:bodyPr>
          <a:lstStyle/>
          <a:p>
            <a:r>
              <a:rPr lang="en-US" sz="1100" dirty="0"/>
              <a:t>Red</a:t>
            </a:r>
            <a:endParaRPr lang="en-SG" sz="1100" dirty="0"/>
          </a:p>
        </p:txBody>
      </p:sp>
    </p:spTree>
    <p:extLst>
      <p:ext uri="{BB962C8B-B14F-4D97-AF65-F5344CB8AC3E}">
        <p14:creationId xmlns:p14="http://schemas.microsoft.com/office/powerpoint/2010/main" val="134983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FA8C7-7CC9-08BF-FCDF-5EA32B194204}"/>
              </a:ext>
            </a:extLst>
          </p:cNvPr>
          <p:cNvSpPr>
            <a:spLocks noGrp="1"/>
          </p:cNvSpPr>
          <p:nvPr>
            <p:ph type="title"/>
          </p:nvPr>
        </p:nvSpPr>
        <p:spPr>
          <a:xfrm>
            <a:off x="650535" y="232612"/>
            <a:ext cx="10890929" cy="1097280"/>
          </a:xfrm>
        </p:spPr>
        <p:txBody>
          <a:bodyPr/>
          <a:lstStyle/>
          <a:p>
            <a:r>
              <a:rPr lang="en-US"/>
              <a:t>Total Funds Sent and Received</a:t>
            </a:r>
            <a:endParaRPr lang="en-SG" dirty="0"/>
          </a:p>
        </p:txBody>
      </p:sp>
      <p:pic>
        <p:nvPicPr>
          <p:cNvPr id="5" name="Picture 4">
            <a:extLst>
              <a:ext uri="{FF2B5EF4-FFF2-40B4-BE49-F238E27FC236}">
                <a16:creationId xmlns:a16="http://schemas.microsoft.com/office/drawing/2014/main" id="{E3C96252-33F9-61A5-5C86-CC9403A730D9}"/>
              </a:ext>
            </a:extLst>
          </p:cNvPr>
          <p:cNvPicPr>
            <a:picLocks noChangeAspect="1"/>
          </p:cNvPicPr>
          <p:nvPr/>
        </p:nvPicPr>
        <p:blipFill>
          <a:blip r:embed="rId3"/>
          <a:stretch>
            <a:fillRect/>
          </a:stretch>
        </p:blipFill>
        <p:spPr>
          <a:xfrm>
            <a:off x="1939807" y="944785"/>
            <a:ext cx="6516246" cy="5680603"/>
          </a:xfrm>
          <a:prstGeom prst="rect">
            <a:avLst/>
          </a:prstGeom>
        </p:spPr>
      </p:pic>
      <p:sp>
        <p:nvSpPr>
          <p:cNvPr id="3" name="TextBox 2">
            <a:extLst>
              <a:ext uri="{FF2B5EF4-FFF2-40B4-BE49-F238E27FC236}">
                <a16:creationId xmlns:a16="http://schemas.microsoft.com/office/drawing/2014/main" id="{BF495DA3-84E6-7D21-32E1-4E20B16221DB}"/>
              </a:ext>
            </a:extLst>
          </p:cNvPr>
          <p:cNvSpPr txBox="1"/>
          <p:nvPr/>
        </p:nvSpPr>
        <p:spPr>
          <a:xfrm>
            <a:off x="3187700" y="1612900"/>
            <a:ext cx="885179" cy="276999"/>
          </a:xfrm>
          <a:prstGeom prst="rect">
            <a:avLst/>
          </a:prstGeom>
          <a:noFill/>
        </p:spPr>
        <p:txBody>
          <a:bodyPr wrap="none" rtlCol="0">
            <a:spAutoFit/>
          </a:bodyPr>
          <a:lstStyle/>
          <a:p>
            <a:r>
              <a:rPr lang="en-US" sz="1200" dirty="0"/>
              <a:t>Kim &amp; Lee</a:t>
            </a:r>
            <a:endParaRPr lang="en-SG" sz="1200" dirty="0"/>
          </a:p>
        </p:txBody>
      </p:sp>
    </p:spTree>
    <p:extLst>
      <p:ext uri="{BB962C8B-B14F-4D97-AF65-F5344CB8AC3E}">
        <p14:creationId xmlns:p14="http://schemas.microsoft.com/office/powerpoint/2010/main" val="336600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A1C8-530B-16F6-8111-F5ECF69C99DE}"/>
              </a:ext>
            </a:extLst>
          </p:cNvPr>
          <p:cNvSpPr>
            <a:spLocks noGrp="1"/>
          </p:cNvSpPr>
          <p:nvPr>
            <p:ph type="title"/>
          </p:nvPr>
        </p:nvSpPr>
        <p:spPr>
          <a:xfrm>
            <a:off x="640079" y="271464"/>
            <a:ext cx="10890929" cy="1097280"/>
          </a:xfrm>
        </p:spPr>
        <p:txBody>
          <a:bodyPr/>
          <a:lstStyle/>
          <a:p>
            <a:r>
              <a:rPr lang="en-US" dirty="0"/>
              <a:t>Total Amount Send &amp; Received</a:t>
            </a:r>
            <a:endParaRPr lang="en-SG" dirty="0"/>
          </a:p>
        </p:txBody>
      </p:sp>
      <p:pic>
        <p:nvPicPr>
          <p:cNvPr id="5" name="Picture 4">
            <a:extLst>
              <a:ext uri="{FF2B5EF4-FFF2-40B4-BE49-F238E27FC236}">
                <a16:creationId xmlns:a16="http://schemas.microsoft.com/office/drawing/2014/main" id="{6FB7C5BA-F516-8FC2-7C0F-C6837477F0EC}"/>
              </a:ext>
            </a:extLst>
          </p:cNvPr>
          <p:cNvPicPr>
            <a:picLocks noChangeAspect="1"/>
          </p:cNvPicPr>
          <p:nvPr/>
        </p:nvPicPr>
        <p:blipFill>
          <a:blip r:embed="rId2"/>
          <a:stretch>
            <a:fillRect/>
          </a:stretch>
        </p:blipFill>
        <p:spPr>
          <a:xfrm>
            <a:off x="640079" y="3643317"/>
            <a:ext cx="10820951" cy="2898823"/>
          </a:xfrm>
          <a:prstGeom prst="rect">
            <a:avLst/>
          </a:prstGeom>
        </p:spPr>
      </p:pic>
      <p:pic>
        <p:nvPicPr>
          <p:cNvPr id="7" name="Picture 6">
            <a:extLst>
              <a:ext uri="{FF2B5EF4-FFF2-40B4-BE49-F238E27FC236}">
                <a16:creationId xmlns:a16="http://schemas.microsoft.com/office/drawing/2014/main" id="{7ACCAB22-6A73-A355-717D-A214C944CC92}"/>
              </a:ext>
            </a:extLst>
          </p:cNvPr>
          <p:cNvPicPr>
            <a:picLocks noChangeAspect="1"/>
          </p:cNvPicPr>
          <p:nvPr/>
        </p:nvPicPr>
        <p:blipFill>
          <a:blip r:embed="rId3"/>
          <a:stretch>
            <a:fillRect/>
          </a:stretch>
        </p:blipFill>
        <p:spPr>
          <a:xfrm>
            <a:off x="734830" y="1031133"/>
            <a:ext cx="10409420" cy="2788578"/>
          </a:xfrm>
          <a:prstGeom prst="rect">
            <a:avLst/>
          </a:prstGeom>
        </p:spPr>
      </p:pic>
    </p:spTree>
    <p:extLst>
      <p:ext uri="{BB962C8B-B14F-4D97-AF65-F5344CB8AC3E}">
        <p14:creationId xmlns:p14="http://schemas.microsoft.com/office/powerpoint/2010/main" val="1572234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FD84C-C11C-AED6-71D1-927FC4D73539}"/>
              </a:ext>
            </a:extLst>
          </p:cNvPr>
          <p:cNvSpPr>
            <a:spLocks noGrp="1"/>
          </p:cNvSpPr>
          <p:nvPr>
            <p:ph type="title"/>
          </p:nvPr>
        </p:nvSpPr>
        <p:spPr>
          <a:xfrm>
            <a:off x="640079" y="328864"/>
            <a:ext cx="10890929" cy="1097280"/>
          </a:xfrm>
        </p:spPr>
        <p:txBody>
          <a:bodyPr/>
          <a:lstStyle/>
          <a:p>
            <a:r>
              <a:rPr lang="en-US" dirty="0"/>
              <a:t>Money Flow</a:t>
            </a:r>
            <a:endParaRPr lang="en-SG" dirty="0"/>
          </a:p>
        </p:txBody>
      </p:sp>
      <p:pic>
        <p:nvPicPr>
          <p:cNvPr id="3" name="Picture 2">
            <a:extLst>
              <a:ext uri="{FF2B5EF4-FFF2-40B4-BE49-F238E27FC236}">
                <a16:creationId xmlns:a16="http://schemas.microsoft.com/office/drawing/2014/main" id="{E45DCEA4-FA33-3B9D-FBE6-78E939C45D8C}"/>
              </a:ext>
            </a:extLst>
          </p:cNvPr>
          <p:cNvPicPr>
            <a:picLocks noChangeAspect="1"/>
          </p:cNvPicPr>
          <p:nvPr/>
        </p:nvPicPr>
        <p:blipFill>
          <a:blip r:embed="rId2"/>
          <a:srcRect r="19132"/>
          <a:stretch>
            <a:fillRect/>
          </a:stretch>
        </p:blipFill>
        <p:spPr>
          <a:xfrm>
            <a:off x="1017121" y="1147250"/>
            <a:ext cx="9223975" cy="5378085"/>
          </a:xfrm>
          <a:prstGeom prst="rect">
            <a:avLst/>
          </a:prstGeom>
        </p:spPr>
      </p:pic>
      <p:grpSp>
        <p:nvGrpSpPr>
          <p:cNvPr id="17" name="Group 16">
            <a:extLst>
              <a:ext uri="{FF2B5EF4-FFF2-40B4-BE49-F238E27FC236}">
                <a16:creationId xmlns:a16="http://schemas.microsoft.com/office/drawing/2014/main" id="{8A3948C6-B42C-A90F-F432-4FAA00171AE5}"/>
              </a:ext>
            </a:extLst>
          </p:cNvPr>
          <p:cNvGrpSpPr/>
          <p:nvPr/>
        </p:nvGrpSpPr>
        <p:grpSpPr>
          <a:xfrm>
            <a:off x="805330" y="1140031"/>
            <a:ext cx="10053170" cy="5436104"/>
            <a:chOff x="1078654" y="1284577"/>
            <a:chExt cx="10053170" cy="5436104"/>
          </a:xfrm>
        </p:grpSpPr>
        <p:pic>
          <p:nvPicPr>
            <p:cNvPr id="7" name="Picture 6">
              <a:extLst>
                <a:ext uri="{FF2B5EF4-FFF2-40B4-BE49-F238E27FC236}">
                  <a16:creationId xmlns:a16="http://schemas.microsoft.com/office/drawing/2014/main" id="{C981EFC4-88D9-2174-5551-CAF052E8B9F7}"/>
                </a:ext>
              </a:extLst>
            </p:cNvPr>
            <p:cNvPicPr>
              <a:picLocks noChangeAspect="1"/>
            </p:cNvPicPr>
            <p:nvPr/>
          </p:nvPicPr>
          <p:blipFill>
            <a:blip r:embed="rId3"/>
            <a:stretch>
              <a:fillRect/>
            </a:stretch>
          </p:blipFill>
          <p:spPr>
            <a:xfrm>
              <a:off x="1078654" y="1284577"/>
              <a:ext cx="9348713" cy="5436104"/>
            </a:xfrm>
            <a:prstGeom prst="rect">
              <a:avLst/>
            </a:prstGeom>
          </p:spPr>
        </p:pic>
        <p:grpSp>
          <p:nvGrpSpPr>
            <p:cNvPr id="16" name="Group 15">
              <a:extLst>
                <a:ext uri="{FF2B5EF4-FFF2-40B4-BE49-F238E27FC236}">
                  <a16:creationId xmlns:a16="http://schemas.microsoft.com/office/drawing/2014/main" id="{D66C7AB8-2A74-8A3F-88A0-2B1B0E63A024}"/>
                </a:ext>
              </a:extLst>
            </p:cNvPr>
            <p:cNvGrpSpPr/>
            <p:nvPr/>
          </p:nvGrpSpPr>
          <p:grpSpPr>
            <a:xfrm>
              <a:off x="2262843" y="2381857"/>
              <a:ext cx="8868981" cy="3046199"/>
              <a:chOff x="2262843" y="2381857"/>
              <a:chExt cx="8868981" cy="3046199"/>
            </a:xfrm>
          </p:grpSpPr>
          <p:sp>
            <p:nvSpPr>
              <p:cNvPr id="4" name="TextBox 3">
                <a:extLst>
                  <a:ext uri="{FF2B5EF4-FFF2-40B4-BE49-F238E27FC236}">
                    <a16:creationId xmlns:a16="http://schemas.microsoft.com/office/drawing/2014/main" id="{CAEE837C-D558-F0E2-D31B-D85D814B322D}"/>
                  </a:ext>
                </a:extLst>
              </p:cNvPr>
              <p:cNvSpPr txBox="1"/>
              <p:nvPr/>
            </p:nvSpPr>
            <p:spPr>
              <a:xfrm>
                <a:off x="6085543" y="2381857"/>
                <a:ext cx="885179" cy="276999"/>
              </a:xfrm>
              <a:prstGeom prst="rect">
                <a:avLst/>
              </a:prstGeom>
              <a:noFill/>
            </p:spPr>
            <p:txBody>
              <a:bodyPr wrap="none" rtlCol="0">
                <a:spAutoFit/>
              </a:bodyPr>
              <a:lstStyle/>
              <a:p>
                <a:r>
                  <a:rPr lang="en-US" sz="1200" dirty="0"/>
                  <a:t>Kim &amp; Lee</a:t>
                </a:r>
                <a:endParaRPr lang="en-SG" sz="1200" dirty="0"/>
              </a:p>
            </p:txBody>
          </p:sp>
          <p:sp>
            <p:nvSpPr>
              <p:cNvPr id="6" name="TextBox 5">
                <a:extLst>
                  <a:ext uri="{FF2B5EF4-FFF2-40B4-BE49-F238E27FC236}">
                    <a16:creationId xmlns:a16="http://schemas.microsoft.com/office/drawing/2014/main" id="{83F44E2E-9794-A211-272A-252E3057C936}"/>
                  </a:ext>
                </a:extLst>
              </p:cNvPr>
              <p:cNvSpPr txBox="1"/>
              <p:nvPr/>
            </p:nvSpPr>
            <p:spPr>
              <a:xfrm>
                <a:off x="2872443" y="3525457"/>
                <a:ext cx="731290" cy="276999"/>
              </a:xfrm>
              <a:prstGeom prst="rect">
                <a:avLst/>
              </a:prstGeom>
              <a:noFill/>
            </p:spPr>
            <p:txBody>
              <a:bodyPr wrap="none" rtlCol="0">
                <a:spAutoFit/>
              </a:bodyPr>
              <a:lstStyle/>
              <a:p>
                <a:r>
                  <a:rPr lang="en-US" sz="1200" dirty="0"/>
                  <a:t>Sherren</a:t>
                </a:r>
                <a:endParaRPr lang="en-SG" sz="1200" dirty="0"/>
              </a:p>
            </p:txBody>
          </p:sp>
          <p:sp>
            <p:nvSpPr>
              <p:cNvPr id="8" name="TextBox 7">
                <a:extLst>
                  <a:ext uri="{FF2B5EF4-FFF2-40B4-BE49-F238E27FC236}">
                    <a16:creationId xmlns:a16="http://schemas.microsoft.com/office/drawing/2014/main" id="{7172F316-1F48-311D-41D6-3F93BDA2CB61}"/>
                  </a:ext>
                </a:extLst>
              </p:cNvPr>
              <p:cNvSpPr txBox="1"/>
              <p:nvPr/>
            </p:nvSpPr>
            <p:spPr>
              <a:xfrm>
                <a:off x="2262843" y="5151057"/>
                <a:ext cx="527709" cy="276999"/>
              </a:xfrm>
              <a:prstGeom prst="rect">
                <a:avLst/>
              </a:prstGeom>
              <a:noFill/>
            </p:spPr>
            <p:txBody>
              <a:bodyPr wrap="none" rtlCol="0">
                <a:spAutoFit/>
              </a:bodyPr>
              <a:lstStyle/>
              <a:p>
                <a:r>
                  <a:rPr lang="en-US" sz="1200" dirty="0"/>
                  <a:t>Sunil</a:t>
                </a:r>
                <a:endParaRPr lang="en-SG" sz="1200" dirty="0"/>
              </a:p>
            </p:txBody>
          </p:sp>
          <p:sp>
            <p:nvSpPr>
              <p:cNvPr id="9" name="TextBox 8">
                <a:extLst>
                  <a:ext uri="{FF2B5EF4-FFF2-40B4-BE49-F238E27FC236}">
                    <a16:creationId xmlns:a16="http://schemas.microsoft.com/office/drawing/2014/main" id="{CBA62E8F-1E38-E3B3-EEEE-D4711F2FD168}"/>
                  </a:ext>
                </a:extLst>
              </p:cNvPr>
              <p:cNvSpPr txBox="1"/>
              <p:nvPr/>
            </p:nvSpPr>
            <p:spPr>
              <a:xfrm>
                <a:off x="4967943" y="5132013"/>
                <a:ext cx="885179" cy="276999"/>
              </a:xfrm>
              <a:prstGeom prst="rect">
                <a:avLst/>
              </a:prstGeom>
              <a:noFill/>
            </p:spPr>
            <p:txBody>
              <a:bodyPr wrap="none" rtlCol="0">
                <a:spAutoFit/>
              </a:bodyPr>
              <a:lstStyle/>
              <a:p>
                <a:r>
                  <a:rPr lang="en-US" sz="1200" dirty="0"/>
                  <a:t>Kim &amp; Lee</a:t>
                </a:r>
                <a:endParaRPr lang="en-SG" sz="1200" dirty="0"/>
              </a:p>
            </p:txBody>
          </p:sp>
          <p:sp>
            <p:nvSpPr>
              <p:cNvPr id="10" name="TextBox 9">
                <a:extLst>
                  <a:ext uri="{FF2B5EF4-FFF2-40B4-BE49-F238E27FC236}">
                    <a16:creationId xmlns:a16="http://schemas.microsoft.com/office/drawing/2014/main" id="{FED8E959-BAD4-6472-8305-0C24762CB8EB}"/>
                  </a:ext>
                </a:extLst>
              </p:cNvPr>
              <p:cNvSpPr txBox="1"/>
              <p:nvPr/>
            </p:nvSpPr>
            <p:spPr>
              <a:xfrm>
                <a:off x="7632950" y="5151056"/>
                <a:ext cx="885179" cy="276999"/>
              </a:xfrm>
              <a:prstGeom prst="rect">
                <a:avLst/>
              </a:prstGeom>
              <a:noFill/>
            </p:spPr>
            <p:txBody>
              <a:bodyPr wrap="none" rtlCol="0">
                <a:spAutoFit/>
              </a:bodyPr>
              <a:lstStyle/>
              <a:p>
                <a:r>
                  <a:rPr lang="en-US" sz="1200" dirty="0"/>
                  <a:t>Kim &amp; Lee</a:t>
                </a:r>
                <a:endParaRPr lang="en-SG" sz="1200" dirty="0"/>
              </a:p>
            </p:txBody>
          </p:sp>
          <p:sp>
            <p:nvSpPr>
              <p:cNvPr id="11" name="TextBox 10">
                <a:extLst>
                  <a:ext uri="{FF2B5EF4-FFF2-40B4-BE49-F238E27FC236}">
                    <a16:creationId xmlns:a16="http://schemas.microsoft.com/office/drawing/2014/main" id="{4042516C-A00A-90AA-A926-D3F300034E4F}"/>
                  </a:ext>
                </a:extLst>
              </p:cNvPr>
              <p:cNvSpPr txBox="1"/>
              <p:nvPr/>
            </p:nvSpPr>
            <p:spPr>
              <a:xfrm>
                <a:off x="10246645" y="5132012"/>
                <a:ext cx="885179" cy="276999"/>
              </a:xfrm>
              <a:prstGeom prst="rect">
                <a:avLst/>
              </a:prstGeom>
              <a:noFill/>
            </p:spPr>
            <p:txBody>
              <a:bodyPr wrap="none" rtlCol="0">
                <a:spAutoFit/>
              </a:bodyPr>
              <a:lstStyle/>
              <a:p>
                <a:r>
                  <a:rPr lang="en-US" sz="1200" dirty="0"/>
                  <a:t>Kim &amp; Lee</a:t>
                </a:r>
                <a:endParaRPr lang="en-SG" sz="1200" dirty="0"/>
              </a:p>
            </p:txBody>
          </p:sp>
          <p:sp>
            <p:nvSpPr>
              <p:cNvPr id="12" name="TextBox 11">
                <a:extLst>
                  <a:ext uri="{FF2B5EF4-FFF2-40B4-BE49-F238E27FC236}">
                    <a16:creationId xmlns:a16="http://schemas.microsoft.com/office/drawing/2014/main" id="{AD436A6A-BBAF-93DE-9231-119FF56CE801}"/>
                  </a:ext>
                </a:extLst>
              </p:cNvPr>
              <p:cNvSpPr txBox="1"/>
              <p:nvPr/>
            </p:nvSpPr>
            <p:spPr>
              <a:xfrm>
                <a:off x="5410532" y="4515657"/>
                <a:ext cx="458523" cy="276999"/>
              </a:xfrm>
              <a:prstGeom prst="rect">
                <a:avLst/>
              </a:prstGeom>
              <a:noFill/>
            </p:spPr>
            <p:txBody>
              <a:bodyPr wrap="none" rtlCol="0">
                <a:spAutoFit/>
              </a:bodyPr>
              <a:lstStyle/>
              <a:p>
                <a:r>
                  <a:rPr lang="en-US" sz="1200" dirty="0"/>
                  <a:t>Tom</a:t>
                </a:r>
                <a:endParaRPr lang="en-SG" sz="1200" dirty="0"/>
              </a:p>
            </p:txBody>
          </p:sp>
          <p:sp>
            <p:nvSpPr>
              <p:cNvPr id="13" name="TextBox 12">
                <a:extLst>
                  <a:ext uri="{FF2B5EF4-FFF2-40B4-BE49-F238E27FC236}">
                    <a16:creationId xmlns:a16="http://schemas.microsoft.com/office/drawing/2014/main" id="{8D2438BE-A74E-2FA0-126E-80F46D94AEFF}"/>
                  </a:ext>
                </a:extLst>
              </p:cNvPr>
              <p:cNvSpPr txBox="1"/>
              <p:nvPr/>
            </p:nvSpPr>
            <p:spPr>
              <a:xfrm>
                <a:off x="4967943" y="3418313"/>
                <a:ext cx="505267" cy="276999"/>
              </a:xfrm>
              <a:prstGeom prst="rect">
                <a:avLst/>
              </a:prstGeom>
              <a:noFill/>
            </p:spPr>
            <p:txBody>
              <a:bodyPr wrap="none" rtlCol="0">
                <a:spAutoFit/>
              </a:bodyPr>
              <a:lstStyle/>
              <a:p>
                <a:r>
                  <a:rPr lang="en-US" sz="1200" dirty="0"/>
                  <a:t>Jane</a:t>
                </a:r>
                <a:endParaRPr lang="en-SG" sz="1200" dirty="0"/>
              </a:p>
            </p:txBody>
          </p:sp>
          <p:sp>
            <p:nvSpPr>
              <p:cNvPr id="14" name="TextBox 13">
                <a:extLst>
                  <a:ext uri="{FF2B5EF4-FFF2-40B4-BE49-F238E27FC236}">
                    <a16:creationId xmlns:a16="http://schemas.microsoft.com/office/drawing/2014/main" id="{2E79EEDE-B03A-8833-2670-057C21C53640}"/>
                  </a:ext>
                </a:extLst>
              </p:cNvPr>
              <p:cNvSpPr txBox="1"/>
              <p:nvPr/>
            </p:nvSpPr>
            <p:spPr>
              <a:xfrm>
                <a:off x="6901913" y="3348469"/>
                <a:ext cx="484172" cy="276999"/>
              </a:xfrm>
              <a:prstGeom prst="rect">
                <a:avLst/>
              </a:prstGeom>
              <a:noFill/>
            </p:spPr>
            <p:txBody>
              <a:bodyPr wrap="none" rtlCol="0">
                <a:spAutoFit/>
              </a:bodyPr>
              <a:lstStyle/>
              <a:p>
                <a:r>
                  <a:rPr lang="en-US" sz="1200" dirty="0"/>
                  <a:t>Tony</a:t>
                </a:r>
                <a:endParaRPr lang="en-SG" sz="1200" dirty="0"/>
              </a:p>
            </p:txBody>
          </p:sp>
          <p:sp>
            <p:nvSpPr>
              <p:cNvPr id="15" name="TextBox 14">
                <a:extLst>
                  <a:ext uri="{FF2B5EF4-FFF2-40B4-BE49-F238E27FC236}">
                    <a16:creationId xmlns:a16="http://schemas.microsoft.com/office/drawing/2014/main" id="{6E6F015D-B04F-ADD3-D00B-2905C2919B0F}"/>
                  </a:ext>
                </a:extLst>
              </p:cNvPr>
              <p:cNvSpPr txBox="1"/>
              <p:nvPr/>
            </p:nvSpPr>
            <p:spPr>
              <a:xfrm>
                <a:off x="9452621" y="3386957"/>
                <a:ext cx="538930" cy="276999"/>
              </a:xfrm>
              <a:prstGeom prst="rect">
                <a:avLst/>
              </a:prstGeom>
              <a:noFill/>
            </p:spPr>
            <p:txBody>
              <a:bodyPr wrap="none" rtlCol="0">
                <a:spAutoFit/>
              </a:bodyPr>
              <a:lstStyle/>
              <a:p>
                <a:r>
                  <a:rPr lang="en-US" sz="1200" dirty="0"/>
                  <a:t>Jerry</a:t>
                </a:r>
                <a:endParaRPr lang="en-SG" sz="1200" dirty="0"/>
              </a:p>
            </p:txBody>
          </p:sp>
        </p:grpSp>
      </p:grpSp>
    </p:spTree>
    <p:extLst>
      <p:ext uri="{BB962C8B-B14F-4D97-AF65-F5344CB8AC3E}">
        <p14:creationId xmlns:p14="http://schemas.microsoft.com/office/powerpoint/2010/main" val="327410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703C4D-F42C-2DED-3083-E51FA0D3145B}"/>
              </a:ext>
            </a:extLst>
          </p:cNvPr>
          <p:cNvSpPr>
            <a:spLocks noGrp="1"/>
          </p:cNvSpPr>
          <p:nvPr>
            <p:ph type="title"/>
          </p:nvPr>
        </p:nvSpPr>
        <p:spPr>
          <a:xfrm>
            <a:off x="195579" y="223716"/>
            <a:ext cx="4363721" cy="886211"/>
          </a:xfrm>
        </p:spPr>
        <p:txBody>
          <a:bodyPr anchor="b">
            <a:normAutofit fontScale="90000"/>
          </a:bodyPr>
          <a:lstStyle/>
          <a:p>
            <a:r>
              <a:rPr lang="en-US" dirty="0"/>
              <a:t>Identifying the Middlemen</a:t>
            </a:r>
            <a:endParaRPr lang="en-SG" dirty="0"/>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5EEB4A33-A7EA-E1D7-514E-C5C27E9E3E0B}"/>
              </a:ext>
            </a:extLst>
          </p:cNvPr>
          <p:cNvGraphicFramePr>
            <a:graphicFrameLocks noGrp="1"/>
          </p:cNvGraphicFramePr>
          <p:nvPr>
            <p:ph idx="1"/>
            <p:extLst>
              <p:ext uri="{D42A27DB-BD31-4B8C-83A1-F6EECF244321}">
                <p14:modId xmlns:p14="http://schemas.microsoft.com/office/powerpoint/2010/main" val="3781674676"/>
              </p:ext>
            </p:extLst>
          </p:nvPr>
        </p:nvGraphicFramePr>
        <p:xfrm>
          <a:off x="640079" y="2809193"/>
          <a:ext cx="4122421" cy="3238578"/>
        </p:xfrm>
        <a:graphic>
          <a:graphicData uri="http://schemas.openxmlformats.org/drawingml/2006/table">
            <a:tbl>
              <a:tblPr firstRow="1" bandRow="1"/>
              <a:tblGrid>
                <a:gridCol w="1704954">
                  <a:extLst>
                    <a:ext uri="{9D8B030D-6E8A-4147-A177-3AD203B41FA5}">
                      <a16:colId xmlns:a16="http://schemas.microsoft.com/office/drawing/2014/main" val="1013227566"/>
                    </a:ext>
                  </a:extLst>
                </a:gridCol>
                <a:gridCol w="2417467">
                  <a:extLst>
                    <a:ext uri="{9D8B030D-6E8A-4147-A177-3AD203B41FA5}">
                      <a16:colId xmlns:a16="http://schemas.microsoft.com/office/drawing/2014/main" val="1732383317"/>
                    </a:ext>
                  </a:extLst>
                </a:gridCol>
              </a:tblGrid>
              <a:tr h="462654">
                <a:tc>
                  <a:txBody>
                    <a:bodyPr/>
                    <a:lstStyle/>
                    <a:p>
                      <a:pPr>
                        <a:buNone/>
                      </a:pPr>
                      <a:r>
                        <a:rPr lang="en-SG" sz="2100" dirty="0"/>
                        <a:t>Party Name</a:t>
                      </a:r>
                    </a:p>
                  </a:txBody>
                  <a:tcPr marL="105149" marR="105149" marT="52574" marB="52574" anchor="ctr">
                    <a:lnL>
                      <a:noFill/>
                    </a:lnL>
                    <a:lnR>
                      <a:noFill/>
                    </a:lnR>
                    <a:lnT>
                      <a:noFill/>
                    </a:lnT>
                    <a:lnB>
                      <a:noFill/>
                    </a:lnB>
                    <a:noFill/>
                  </a:tcPr>
                </a:tc>
                <a:tc>
                  <a:txBody>
                    <a:bodyPr/>
                    <a:lstStyle/>
                    <a:p>
                      <a:pPr>
                        <a:buNone/>
                      </a:pPr>
                      <a:r>
                        <a:rPr lang="en-SG" sz="2100"/>
                        <a:t>Transaction Count</a:t>
                      </a:r>
                    </a:p>
                  </a:txBody>
                  <a:tcPr marL="105149" marR="105149" marT="52574" marB="52574" anchor="ctr">
                    <a:lnL>
                      <a:noFill/>
                    </a:lnL>
                    <a:lnR>
                      <a:noFill/>
                    </a:lnR>
                    <a:lnT>
                      <a:noFill/>
                    </a:lnT>
                    <a:lnB>
                      <a:noFill/>
                    </a:lnB>
                    <a:noFill/>
                  </a:tcPr>
                </a:tc>
                <a:extLst>
                  <a:ext uri="{0D108BD9-81ED-4DB2-BD59-A6C34878D82A}">
                    <a16:rowId xmlns:a16="http://schemas.microsoft.com/office/drawing/2014/main" val="2473767002"/>
                  </a:ext>
                </a:extLst>
              </a:tr>
              <a:tr h="462654">
                <a:tc>
                  <a:txBody>
                    <a:bodyPr/>
                    <a:lstStyle/>
                    <a:p>
                      <a:pPr>
                        <a:buNone/>
                      </a:pPr>
                      <a:r>
                        <a:rPr lang="en-SG" sz="2100" b="1"/>
                        <a:t>Jerry</a:t>
                      </a:r>
                      <a:endParaRPr lang="en-SG" sz="2100"/>
                    </a:p>
                  </a:txBody>
                  <a:tcPr marL="105149" marR="105149" marT="52574" marB="52574" anchor="ctr">
                    <a:lnL>
                      <a:noFill/>
                    </a:lnL>
                    <a:lnR>
                      <a:noFill/>
                    </a:lnR>
                    <a:lnT>
                      <a:noFill/>
                    </a:lnT>
                    <a:lnB>
                      <a:noFill/>
                    </a:lnB>
                    <a:noFill/>
                  </a:tcPr>
                </a:tc>
                <a:tc>
                  <a:txBody>
                    <a:bodyPr/>
                    <a:lstStyle/>
                    <a:p>
                      <a:pPr>
                        <a:buNone/>
                      </a:pPr>
                      <a:r>
                        <a:rPr lang="en-SG" sz="2100" b="1"/>
                        <a:t>4</a:t>
                      </a:r>
                      <a:endParaRPr lang="en-SG" sz="2100"/>
                    </a:p>
                  </a:txBody>
                  <a:tcPr marL="105149" marR="105149" marT="52574" marB="52574" anchor="ctr">
                    <a:lnL>
                      <a:noFill/>
                    </a:lnL>
                    <a:lnR>
                      <a:noFill/>
                    </a:lnR>
                    <a:lnT>
                      <a:noFill/>
                    </a:lnT>
                    <a:lnB>
                      <a:noFill/>
                    </a:lnB>
                    <a:noFill/>
                  </a:tcPr>
                </a:tc>
                <a:extLst>
                  <a:ext uri="{0D108BD9-81ED-4DB2-BD59-A6C34878D82A}">
                    <a16:rowId xmlns:a16="http://schemas.microsoft.com/office/drawing/2014/main" val="2227595734"/>
                  </a:ext>
                </a:extLst>
              </a:tr>
              <a:tr h="462654">
                <a:tc>
                  <a:txBody>
                    <a:bodyPr/>
                    <a:lstStyle/>
                    <a:p>
                      <a:pPr>
                        <a:buNone/>
                      </a:pPr>
                      <a:r>
                        <a:rPr lang="en-SG" sz="2100"/>
                        <a:t>Tony</a:t>
                      </a:r>
                    </a:p>
                  </a:txBody>
                  <a:tcPr marL="105149" marR="105149" marT="52574" marB="52574" anchor="ctr">
                    <a:lnL>
                      <a:noFill/>
                    </a:lnL>
                    <a:lnR>
                      <a:noFill/>
                    </a:lnR>
                    <a:lnT>
                      <a:noFill/>
                    </a:lnT>
                    <a:lnB>
                      <a:noFill/>
                    </a:lnB>
                    <a:noFill/>
                  </a:tcPr>
                </a:tc>
                <a:tc>
                  <a:txBody>
                    <a:bodyPr/>
                    <a:lstStyle/>
                    <a:p>
                      <a:pPr>
                        <a:buNone/>
                      </a:pPr>
                      <a:r>
                        <a:rPr lang="en-SG" sz="2100" dirty="0"/>
                        <a:t>3</a:t>
                      </a:r>
                    </a:p>
                  </a:txBody>
                  <a:tcPr marL="105149" marR="105149" marT="52574" marB="52574" anchor="ctr">
                    <a:lnL>
                      <a:noFill/>
                    </a:lnL>
                    <a:lnR>
                      <a:noFill/>
                    </a:lnR>
                    <a:lnT>
                      <a:noFill/>
                    </a:lnT>
                    <a:lnB>
                      <a:noFill/>
                    </a:lnB>
                    <a:noFill/>
                  </a:tcPr>
                </a:tc>
                <a:extLst>
                  <a:ext uri="{0D108BD9-81ED-4DB2-BD59-A6C34878D82A}">
                    <a16:rowId xmlns:a16="http://schemas.microsoft.com/office/drawing/2014/main" val="551926887"/>
                  </a:ext>
                </a:extLst>
              </a:tr>
              <a:tr h="462654">
                <a:tc>
                  <a:txBody>
                    <a:bodyPr/>
                    <a:lstStyle/>
                    <a:p>
                      <a:pPr>
                        <a:buNone/>
                      </a:pPr>
                      <a:r>
                        <a:rPr lang="en-SG" sz="2100"/>
                        <a:t>Jane</a:t>
                      </a:r>
                    </a:p>
                  </a:txBody>
                  <a:tcPr marL="105149" marR="105149" marT="52574" marB="52574" anchor="ctr">
                    <a:lnL>
                      <a:noFill/>
                    </a:lnL>
                    <a:lnR>
                      <a:noFill/>
                    </a:lnR>
                    <a:lnT>
                      <a:noFill/>
                    </a:lnT>
                    <a:lnB>
                      <a:noFill/>
                    </a:lnB>
                    <a:noFill/>
                  </a:tcPr>
                </a:tc>
                <a:tc>
                  <a:txBody>
                    <a:bodyPr/>
                    <a:lstStyle/>
                    <a:p>
                      <a:pPr>
                        <a:buNone/>
                      </a:pPr>
                      <a:r>
                        <a:rPr lang="en-SG" sz="2100"/>
                        <a:t>3</a:t>
                      </a:r>
                    </a:p>
                  </a:txBody>
                  <a:tcPr marL="105149" marR="105149" marT="52574" marB="52574" anchor="ctr">
                    <a:lnL>
                      <a:noFill/>
                    </a:lnL>
                    <a:lnR>
                      <a:noFill/>
                    </a:lnR>
                    <a:lnT>
                      <a:noFill/>
                    </a:lnT>
                    <a:lnB>
                      <a:noFill/>
                    </a:lnB>
                    <a:noFill/>
                  </a:tcPr>
                </a:tc>
                <a:extLst>
                  <a:ext uri="{0D108BD9-81ED-4DB2-BD59-A6C34878D82A}">
                    <a16:rowId xmlns:a16="http://schemas.microsoft.com/office/drawing/2014/main" val="3791338308"/>
                  </a:ext>
                </a:extLst>
              </a:tr>
              <a:tr h="462654">
                <a:tc>
                  <a:txBody>
                    <a:bodyPr/>
                    <a:lstStyle/>
                    <a:p>
                      <a:pPr>
                        <a:buNone/>
                      </a:pPr>
                      <a:r>
                        <a:rPr lang="en-SG" sz="2100"/>
                        <a:t>Tom</a:t>
                      </a:r>
                    </a:p>
                  </a:txBody>
                  <a:tcPr marL="105149" marR="105149" marT="52574" marB="52574" anchor="ctr">
                    <a:lnL>
                      <a:noFill/>
                    </a:lnL>
                    <a:lnR>
                      <a:noFill/>
                    </a:lnR>
                    <a:lnT>
                      <a:noFill/>
                    </a:lnT>
                    <a:lnB>
                      <a:noFill/>
                    </a:lnB>
                    <a:noFill/>
                  </a:tcPr>
                </a:tc>
                <a:tc>
                  <a:txBody>
                    <a:bodyPr/>
                    <a:lstStyle/>
                    <a:p>
                      <a:pPr>
                        <a:buNone/>
                      </a:pPr>
                      <a:r>
                        <a:rPr lang="en-SG" sz="2100" dirty="0"/>
                        <a:t>2</a:t>
                      </a:r>
                    </a:p>
                  </a:txBody>
                  <a:tcPr marL="105149" marR="105149" marT="52574" marB="52574" anchor="ctr">
                    <a:lnL>
                      <a:noFill/>
                    </a:lnL>
                    <a:lnR>
                      <a:noFill/>
                    </a:lnR>
                    <a:lnT>
                      <a:noFill/>
                    </a:lnT>
                    <a:lnB>
                      <a:noFill/>
                    </a:lnB>
                    <a:noFill/>
                  </a:tcPr>
                </a:tc>
                <a:extLst>
                  <a:ext uri="{0D108BD9-81ED-4DB2-BD59-A6C34878D82A}">
                    <a16:rowId xmlns:a16="http://schemas.microsoft.com/office/drawing/2014/main" val="2592522140"/>
                  </a:ext>
                </a:extLst>
              </a:tr>
              <a:tr h="462654">
                <a:tc>
                  <a:txBody>
                    <a:bodyPr/>
                    <a:lstStyle/>
                    <a:p>
                      <a:pPr>
                        <a:buNone/>
                      </a:pPr>
                      <a:r>
                        <a:rPr lang="en-SG" sz="2100"/>
                        <a:t>Sherren</a:t>
                      </a:r>
                    </a:p>
                  </a:txBody>
                  <a:tcPr marL="105149" marR="105149" marT="52574" marB="52574" anchor="ctr">
                    <a:lnL>
                      <a:noFill/>
                    </a:lnL>
                    <a:lnR>
                      <a:noFill/>
                    </a:lnR>
                    <a:lnT>
                      <a:noFill/>
                    </a:lnT>
                    <a:lnB>
                      <a:noFill/>
                    </a:lnB>
                    <a:noFill/>
                  </a:tcPr>
                </a:tc>
                <a:tc>
                  <a:txBody>
                    <a:bodyPr/>
                    <a:lstStyle/>
                    <a:p>
                      <a:pPr>
                        <a:buNone/>
                      </a:pPr>
                      <a:r>
                        <a:rPr lang="en-SG" sz="2100"/>
                        <a:t>3</a:t>
                      </a:r>
                    </a:p>
                  </a:txBody>
                  <a:tcPr marL="105149" marR="105149" marT="52574" marB="52574" anchor="ctr">
                    <a:lnL>
                      <a:noFill/>
                    </a:lnL>
                    <a:lnR>
                      <a:noFill/>
                    </a:lnR>
                    <a:lnT>
                      <a:noFill/>
                    </a:lnT>
                    <a:lnB>
                      <a:noFill/>
                    </a:lnB>
                    <a:noFill/>
                  </a:tcPr>
                </a:tc>
                <a:extLst>
                  <a:ext uri="{0D108BD9-81ED-4DB2-BD59-A6C34878D82A}">
                    <a16:rowId xmlns:a16="http://schemas.microsoft.com/office/drawing/2014/main" val="2976724545"/>
                  </a:ext>
                </a:extLst>
              </a:tr>
              <a:tr h="462654">
                <a:tc>
                  <a:txBody>
                    <a:bodyPr/>
                    <a:lstStyle/>
                    <a:p>
                      <a:pPr>
                        <a:buNone/>
                      </a:pPr>
                      <a:r>
                        <a:rPr lang="en-SG" sz="2100"/>
                        <a:t>Sunil</a:t>
                      </a:r>
                    </a:p>
                  </a:txBody>
                  <a:tcPr marL="105149" marR="105149" marT="52574" marB="52574" anchor="ctr">
                    <a:lnL>
                      <a:noFill/>
                    </a:lnL>
                    <a:lnR>
                      <a:noFill/>
                    </a:lnR>
                    <a:lnT>
                      <a:noFill/>
                    </a:lnT>
                    <a:lnB>
                      <a:noFill/>
                    </a:lnB>
                    <a:noFill/>
                  </a:tcPr>
                </a:tc>
                <a:tc>
                  <a:txBody>
                    <a:bodyPr/>
                    <a:lstStyle/>
                    <a:p>
                      <a:pPr>
                        <a:buNone/>
                      </a:pPr>
                      <a:r>
                        <a:rPr lang="en-SG" sz="2100" dirty="0"/>
                        <a:t>1</a:t>
                      </a:r>
                    </a:p>
                  </a:txBody>
                  <a:tcPr marL="105149" marR="105149" marT="52574" marB="52574" anchor="ctr">
                    <a:lnL>
                      <a:noFill/>
                    </a:lnL>
                    <a:lnR>
                      <a:noFill/>
                    </a:lnR>
                    <a:lnT>
                      <a:noFill/>
                    </a:lnT>
                    <a:lnB>
                      <a:noFill/>
                    </a:lnB>
                    <a:noFill/>
                  </a:tcPr>
                </a:tc>
                <a:extLst>
                  <a:ext uri="{0D108BD9-81ED-4DB2-BD59-A6C34878D82A}">
                    <a16:rowId xmlns:a16="http://schemas.microsoft.com/office/drawing/2014/main" val="1250528012"/>
                  </a:ext>
                </a:extLst>
              </a:tr>
            </a:tbl>
          </a:graphicData>
        </a:graphic>
      </p:graphicFrame>
      <p:sp>
        <p:nvSpPr>
          <p:cNvPr id="5" name="Title 1">
            <a:extLst>
              <a:ext uri="{FF2B5EF4-FFF2-40B4-BE49-F238E27FC236}">
                <a16:creationId xmlns:a16="http://schemas.microsoft.com/office/drawing/2014/main" id="{134DD113-D61F-5403-944A-10CC6AEA35C6}"/>
              </a:ext>
            </a:extLst>
          </p:cNvPr>
          <p:cNvSpPr txBox="1">
            <a:spLocks/>
          </p:cNvSpPr>
          <p:nvPr/>
        </p:nvSpPr>
        <p:spPr>
          <a:xfrm>
            <a:off x="372710" y="1148249"/>
            <a:ext cx="4872390" cy="985335"/>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sz="3000" dirty="0"/>
              <a:t>Jerry is the middleman who handled the highest total, followed by Tony and Jane.</a:t>
            </a:r>
            <a:endParaRPr lang="en-SG" sz="3000" dirty="0"/>
          </a:p>
        </p:txBody>
      </p:sp>
      <p:pic>
        <p:nvPicPr>
          <p:cNvPr id="6" name="Picture 5">
            <a:extLst>
              <a:ext uri="{FF2B5EF4-FFF2-40B4-BE49-F238E27FC236}">
                <a16:creationId xmlns:a16="http://schemas.microsoft.com/office/drawing/2014/main" id="{961E3E7C-7D00-CA09-00BC-9EA86C467CB3}"/>
              </a:ext>
            </a:extLst>
          </p:cNvPr>
          <p:cNvPicPr>
            <a:picLocks noChangeAspect="1"/>
          </p:cNvPicPr>
          <p:nvPr/>
        </p:nvPicPr>
        <p:blipFill>
          <a:blip r:embed="rId3"/>
          <a:stretch>
            <a:fillRect/>
          </a:stretch>
        </p:blipFill>
        <p:spPr>
          <a:xfrm>
            <a:off x="5417973" y="223716"/>
            <a:ext cx="6753114" cy="6029567"/>
          </a:xfrm>
          <a:prstGeom prst="rect">
            <a:avLst/>
          </a:prstGeom>
        </p:spPr>
      </p:pic>
    </p:spTree>
    <p:extLst>
      <p:ext uri="{BB962C8B-B14F-4D97-AF65-F5344CB8AC3E}">
        <p14:creationId xmlns:p14="http://schemas.microsoft.com/office/powerpoint/2010/main" val="432425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DD1A48-48CE-6935-49A8-429CA08977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Lilac PPT Background Images Archive ...">
            <a:extLst>
              <a:ext uri="{FF2B5EF4-FFF2-40B4-BE49-F238E27FC236}">
                <a16:creationId xmlns:a16="http://schemas.microsoft.com/office/drawing/2014/main" id="{895B252D-39F9-99BC-88C3-3BDFAF77CDF0}"/>
              </a:ext>
            </a:extLst>
          </p:cNvPr>
          <p:cNvPicPr>
            <a:picLocks noChangeAspect="1"/>
          </p:cNvPicPr>
          <p:nvPr/>
        </p:nvPicPr>
        <p:blipFill>
          <a:blip r:embed="rId2"/>
          <a:stretch>
            <a:fillRect/>
          </a:stretch>
        </p:blipFill>
        <p:spPr>
          <a:xfrm>
            <a:off x="-27214" y="0"/>
            <a:ext cx="12219214" cy="6842760"/>
          </a:xfrm>
          <a:prstGeom prst="rect">
            <a:avLst/>
          </a:prstGeom>
        </p:spPr>
      </p:pic>
      <p:sp>
        <p:nvSpPr>
          <p:cNvPr id="2" name="Title 1">
            <a:extLst>
              <a:ext uri="{FF2B5EF4-FFF2-40B4-BE49-F238E27FC236}">
                <a16:creationId xmlns:a16="http://schemas.microsoft.com/office/drawing/2014/main" id="{F6CBB01B-C4AB-3AB0-323D-88A2DB828211}"/>
              </a:ext>
            </a:extLst>
          </p:cNvPr>
          <p:cNvSpPr>
            <a:spLocks noGrp="1"/>
          </p:cNvSpPr>
          <p:nvPr>
            <p:ph type="ctrTitle"/>
          </p:nvPr>
        </p:nvSpPr>
        <p:spPr>
          <a:xfrm>
            <a:off x="1946564" y="1249217"/>
            <a:ext cx="8298873" cy="2258284"/>
          </a:xfrm>
        </p:spPr>
        <p:txBody>
          <a:bodyPr anchor="b">
            <a:normAutofit/>
          </a:bodyPr>
          <a:lstStyle/>
          <a:p>
            <a:pPr algn="ctr"/>
            <a:r>
              <a:rPr lang="en-US" sz="6600" dirty="0">
                <a:ln>
                  <a:solidFill>
                    <a:schemeClr val="bg1">
                      <a:lumMod val="75000"/>
                    </a:schemeClr>
                  </a:solidFill>
                </a:ln>
                <a:solidFill>
                  <a:schemeClr val="bg1"/>
                </a:solidFill>
                <a:latin typeface="Amasis MT Pro Medium" panose="02040604050005020304" pitchFamily="18" charset="0"/>
              </a:rPr>
              <a:t>Thank You</a:t>
            </a:r>
            <a:endParaRPr lang="en-SG" sz="6600" b="0" dirty="0">
              <a:ln>
                <a:solidFill>
                  <a:schemeClr val="bg1">
                    <a:lumMod val="75000"/>
                  </a:schemeClr>
                </a:solidFill>
              </a:ln>
              <a:solidFill>
                <a:schemeClr val="bg1"/>
              </a:solidFill>
              <a:latin typeface="Amasis MT Pro Medium" panose="02040604050005020304" pitchFamily="18" charset="0"/>
            </a:endParaRPr>
          </a:p>
        </p:txBody>
      </p:sp>
      <p:cxnSp>
        <p:nvCxnSpPr>
          <p:cNvPr id="10" name="Straight Connector 9">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5112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575</Words>
  <Application>Microsoft Office PowerPoint</Application>
  <PresentationFormat>Widescreen</PresentationFormat>
  <Paragraphs>69</Paragraphs>
  <Slides>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MS UI Gothic</vt:lpstr>
      <vt:lpstr>Amasis MT Pro Medium</vt:lpstr>
      <vt:lpstr>Aptos</vt:lpstr>
      <vt:lpstr>Arial</vt:lpstr>
      <vt:lpstr>Grandview Display</vt:lpstr>
      <vt:lpstr>DashVTI</vt:lpstr>
      <vt:lpstr>Anti–Money Laundering and Transaction Monitoring  Case Study: Kim &amp; Lee</vt:lpstr>
      <vt:lpstr>Understanding Anti-Money Laundering (AML)</vt:lpstr>
      <vt:lpstr>How Transaction Monitoring Works</vt:lpstr>
      <vt:lpstr>Investigating Kim &amp; Lee’s Transaction Network</vt:lpstr>
      <vt:lpstr>Total Funds Sent and Received</vt:lpstr>
      <vt:lpstr>Total Amount Send &amp; Received</vt:lpstr>
      <vt:lpstr>Money Flow</vt:lpstr>
      <vt:lpstr>Identifying the Middlemen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Khin Chan Thar</dc:creator>
  <cp:lastModifiedBy>Khin Chan Thar</cp:lastModifiedBy>
  <cp:revision>18</cp:revision>
  <dcterms:created xsi:type="dcterms:W3CDTF">2025-11-01T12:25:46Z</dcterms:created>
  <dcterms:modified xsi:type="dcterms:W3CDTF">2025-11-03T10:02:15Z</dcterms:modified>
</cp:coreProperties>
</file>